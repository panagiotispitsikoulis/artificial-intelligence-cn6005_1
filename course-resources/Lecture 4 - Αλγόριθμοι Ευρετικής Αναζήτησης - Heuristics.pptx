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30"/>
  </p:notesMasterIdLst>
  <p:handoutMasterIdLst>
    <p:handoutMasterId r:id="rId31"/>
  </p:handoutMasterIdLst>
  <p:sldIdLst>
    <p:sldId id="432" r:id="rId2"/>
    <p:sldId id="348" r:id="rId3"/>
    <p:sldId id="349" r:id="rId4"/>
    <p:sldId id="350" r:id="rId5"/>
    <p:sldId id="438" r:id="rId6"/>
    <p:sldId id="351" r:id="rId7"/>
    <p:sldId id="352" r:id="rId8"/>
    <p:sldId id="353" r:id="rId9"/>
    <p:sldId id="355" r:id="rId10"/>
    <p:sldId id="356" r:id="rId11"/>
    <p:sldId id="357" r:id="rId12"/>
    <p:sldId id="354" r:id="rId13"/>
    <p:sldId id="437" r:id="rId14"/>
    <p:sldId id="358" r:id="rId15"/>
    <p:sldId id="359" r:id="rId16"/>
    <p:sldId id="360" r:id="rId17"/>
    <p:sldId id="361" r:id="rId18"/>
    <p:sldId id="362" r:id="rId19"/>
    <p:sldId id="364" r:id="rId20"/>
    <p:sldId id="365" r:id="rId21"/>
    <p:sldId id="366" r:id="rId22"/>
    <p:sldId id="367" r:id="rId23"/>
    <p:sldId id="369" r:id="rId24"/>
    <p:sldId id="433" r:id="rId25"/>
    <p:sldId id="436" r:id="rId26"/>
    <p:sldId id="434" r:id="rId27"/>
    <p:sldId id="435" r:id="rId28"/>
    <p:sldId id="431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o M" initials="TM" lastIdx="1" clrIdx="0">
    <p:extLst>
      <p:ext uri="{19B8F6BF-5375-455C-9EA6-DF929625EA0E}">
        <p15:presenceInfo xmlns="" xmlns:p15="http://schemas.microsoft.com/office/powerpoint/2012/main" userId="edda31499d6813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9900"/>
    <a:srgbClr val="006600"/>
    <a:srgbClr val="FFFFCC"/>
    <a:srgbClr val="DCEEB0"/>
    <a:srgbClr val="FFFF00"/>
    <a:srgbClr val="3715C9"/>
    <a:srgbClr val="C3FDC3"/>
    <a:srgbClr val="F3DEAB"/>
    <a:srgbClr val="C3D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86826" autoAdjust="0"/>
  </p:normalViewPr>
  <p:slideViewPr>
    <p:cSldViewPr snapToGrid="0">
      <p:cViewPr>
        <p:scale>
          <a:sx n="110" d="100"/>
          <a:sy n="110" d="100"/>
        </p:scale>
        <p:origin x="-1644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C0DA61-A7C2-44F3-BB60-507199EF41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24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l-GR" noProof="0"/>
              <a:t>Click to edit Master text styles</a:t>
            </a:r>
          </a:p>
          <a:p>
            <a:pPr lvl="1"/>
            <a:r>
              <a:rPr lang="el-GR" noProof="0"/>
              <a:t>Second level</a:t>
            </a:r>
          </a:p>
          <a:p>
            <a:pPr lvl="2"/>
            <a:r>
              <a:rPr lang="el-GR" noProof="0"/>
              <a:t>Third level</a:t>
            </a:r>
          </a:p>
          <a:p>
            <a:pPr lvl="3"/>
            <a:r>
              <a:rPr lang="el-GR" noProof="0"/>
              <a:t>Fourth level</a:t>
            </a:r>
          </a:p>
          <a:p>
            <a:pPr lvl="4"/>
            <a:r>
              <a:rPr lang="el-GR" noProof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184996-9F24-4DD5-88BC-2948AB663C3D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2967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="" xmlns:a16="http://schemas.microsoft.com/office/drawing/2014/main" id="{7950345B-CFC8-44C2-91AC-9DF2755780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4063" indent="-288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04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256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07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47938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5138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2338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19538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3C61874-7EB7-48D7-A2A7-FC1E8990077A}" type="slidenum">
              <a:rPr lang="el-GR" altLang="el-GR"/>
              <a:pPr>
                <a:spcBef>
                  <a:spcPct val="0"/>
                </a:spcBef>
              </a:pPr>
              <a:t>1</a:t>
            </a:fld>
            <a:endParaRPr lang="el-GR" altLang="el-GR"/>
          </a:p>
        </p:txBody>
      </p:sp>
      <p:sp>
        <p:nvSpPr>
          <p:cNvPr id="6147" name="Rectangle 2">
            <a:extLst>
              <a:ext uri="{FF2B5EF4-FFF2-40B4-BE49-F238E27FC236}">
                <a16:creationId xmlns="" xmlns:a16="http://schemas.microsoft.com/office/drawing/2014/main" id="{924AA6CB-D7CC-430D-AF14-EBB2D37A92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="" xmlns:a16="http://schemas.microsoft.com/office/drawing/2014/main" id="{3D005537-1D46-45A1-B59D-86EACC306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017F3-54A9-43B6-A285-6F82F371A4C4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EC6A1-DB1E-42A8-9E59-E9E2FB2F9E2B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662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53222-1696-4E02-A3B5-40E82A6AEBC5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2011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AF30F-1CCC-414A-8D7F-C6E49BF03231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401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0754E-8652-4E45-BB50-53C1807AE39F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7869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3A585-7003-4C91-BDAD-290C72F68E88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290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6B5D6-E5D6-4AC2-9BFF-9E393F896604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6776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E8C29-9BA7-490E-A28C-19BEAC764CA2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1893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C8943-F8CB-46B1-8A11-B4BE2ACBD8A0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4299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83BD1-5708-460A-AE67-ED62F64984BF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992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B2C1F-0D28-4AD5-92C8-4A2E32E4A0CE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13600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EA234-ABA1-4194-BF2D-7213F4AE26BD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68268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DAFAD-3EE5-4258-A37F-5E78BCD7FBBE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71488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EAAC3-68B2-4001-BCC2-E64C746A51E3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72668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785225" cy="6302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836613"/>
            <a:ext cx="8785225" cy="5832475"/>
          </a:xfrm>
        </p:spPr>
        <p:txBody>
          <a:bodyPr/>
          <a:lstStyle/>
          <a:p>
            <a:pPr lvl="0"/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351150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l-G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l-GR"/>
              <a:t>Click to edit Master text styles</a:t>
            </a:r>
          </a:p>
          <a:p>
            <a:pPr lvl="1"/>
            <a:r>
              <a:rPr lang="el-GR"/>
              <a:t>Second level</a:t>
            </a:r>
          </a:p>
          <a:p>
            <a:pPr lvl="2"/>
            <a:r>
              <a:rPr lang="el-GR"/>
              <a:t>Third level</a:t>
            </a:r>
          </a:p>
          <a:p>
            <a:pPr lvl="3"/>
            <a:r>
              <a:rPr lang="el-GR"/>
              <a:t>Fourth level</a:t>
            </a:r>
          </a:p>
          <a:p>
            <a:pPr lvl="4"/>
            <a:r>
              <a:rPr lang="el-GR"/>
              <a:t>Fifth level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3E46A96-D4BC-4F70-91BE-6DD67F825352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3.wmf"/><Relationship Id="rId9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9D102628-4048-42DE-9458-D883B45E40D0}"/>
              </a:ext>
            </a:extLst>
          </p:cNvPr>
          <p:cNvSpPr/>
          <p:nvPr/>
        </p:nvSpPr>
        <p:spPr>
          <a:xfrm>
            <a:off x="111988" y="1274941"/>
            <a:ext cx="8845480" cy="4197000"/>
          </a:xfrm>
          <a:prstGeom prst="roundRect">
            <a:avLst/>
          </a:prstGeom>
          <a:solidFill>
            <a:srgbClr val="92D05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122" name="Slide Number Placeholder 5">
            <a:extLst>
              <a:ext uri="{FF2B5EF4-FFF2-40B4-BE49-F238E27FC236}">
                <a16:creationId xmlns="" xmlns:a16="http://schemas.microsoft.com/office/drawing/2014/main" id="{10B71E0F-3C88-4E47-BE72-A628324C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002F2F-5E0B-407D-8ACA-63ED348F7D8F}" type="slidenum">
              <a:rPr lang="el-GR" altLang="el-G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l-GR" altLang="el-GR" sz="1400"/>
          </a:p>
        </p:txBody>
      </p:sp>
      <p:sp>
        <p:nvSpPr>
          <p:cNvPr id="7171" name="Rectangle 2">
            <a:extLst>
              <a:ext uri="{FF2B5EF4-FFF2-40B4-BE49-F238E27FC236}">
                <a16:creationId xmlns="" xmlns:a16="http://schemas.microsoft.com/office/drawing/2014/main" id="{689B148E-77DC-4634-BD7B-7BD2438DB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182" y="1274940"/>
            <a:ext cx="8737600" cy="1288196"/>
          </a:xfrm>
        </p:spPr>
        <p:txBody>
          <a:bodyPr/>
          <a:lstStyle/>
          <a:p>
            <a:pPr eaLnBrk="1" hangingPunct="1">
              <a:defRPr/>
            </a:pPr>
            <a:r>
              <a:rPr lang="en-GB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</a:rPr>
              <a:t>CN6005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</a:rPr>
              <a:t/>
            </a:r>
            <a:b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</a:rPr>
            </a:br>
            <a:r>
              <a:rPr lang="el-G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</a:rPr>
              <a:t>Τεχνητή Νοημοσύνη</a:t>
            </a:r>
            <a:endParaRPr lang="el-GR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rebuchet MS" pitchFamily="34" charset="0"/>
            </a:endParaRPr>
          </a:p>
        </p:txBody>
      </p:sp>
      <p:sp>
        <p:nvSpPr>
          <p:cNvPr id="5125" name="Line 11">
            <a:extLst>
              <a:ext uri="{FF2B5EF4-FFF2-40B4-BE49-F238E27FC236}">
                <a16:creationId xmlns="" xmlns:a16="http://schemas.microsoft.com/office/drawing/2014/main" id="{7B50196B-55B4-405A-AEC5-5E05888A7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75" y="6538913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9" name="Rectangle 2">
            <a:extLst>
              <a:ext uri="{FF2B5EF4-FFF2-40B4-BE49-F238E27FC236}">
                <a16:creationId xmlns="" xmlns:a16="http://schemas.microsoft.com/office/drawing/2014/main" id="{22B24B1D-2475-4526-83CA-727229B4D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32" y="2720186"/>
            <a:ext cx="4922996" cy="2354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5400" b="1" kern="0" dirty="0">
                <a:ln w="22225">
                  <a:solidFill>
                    <a:srgbClr val="FF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  <a:ea typeface="+mj-ea"/>
                <a:cs typeface="+mj-cs"/>
              </a:rPr>
              <a:t>Lecture </a:t>
            </a:r>
            <a:r>
              <a:rPr lang="en-US" sz="5400" b="1" kern="0" dirty="0" smtClean="0">
                <a:ln w="22225">
                  <a:solidFill>
                    <a:srgbClr val="FF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  <a:ea typeface="+mj-ea"/>
                <a:cs typeface="+mj-cs"/>
              </a:rPr>
              <a:t>4</a:t>
            </a:r>
            <a:endParaRPr lang="el-GR" sz="5400" b="1" kern="0" dirty="0">
              <a:ln w="22225">
                <a:solidFill>
                  <a:srgbClr val="FF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1" hangingPunct="1">
              <a:defRPr/>
            </a:pPr>
            <a:r>
              <a:rPr lang="el-GR" sz="3200" b="1" kern="0" dirty="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92D050"/>
                </a:solidFill>
                <a:latin typeface="Trebuchet MS" pitchFamily="34" charset="0"/>
                <a:ea typeface="+mj-ea"/>
                <a:cs typeface="+mj-cs"/>
              </a:rPr>
              <a:t>Αλγόριθμοι ευριστικής (ευρετικής) Αναζήτησης (</a:t>
            </a:r>
            <a:r>
              <a:rPr lang="en-US" sz="3200" b="1" kern="0" dirty="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92D050"/>
                </a:solidFill>
                <a:latin typeface="Trebuchet MS" pitchFamily="34" charset="0"/>
                <a:ea typeface="+mj-ea"/>
                <a:cs typeface="+mj-cs"/>
              </a:rPr>
              <a:t>Heuristic)</a:t>
            </a:r>
            <a:endParaRPr lang="el-GR" sz="3200" b="1" kern="0" dirty="0">
              <a:ln w="22225">
                <a:solidFill>
                  <a:srgbClr val="FF0000"/>
                </a:solidFill>
                <a:prstDash val="solid"/>
              </a:ln>
              <a:solidFill>
                <a:srgbClr val="92D050"/>
              </a:solidFill>
              <a:latin typeface="Trebuchet MS" pitchFamily="34" charset="0"/>
              <a:ea typeface="+mj-ea"/>
              <a:cs typeface="+mj-cs"/>
            </a:endParaRPr>
          </a:p>
        </p:txBody>
      </p:sp>
      <p:sp>
        <p:nvSpPr>
          <p:cNvPr id="6" name="Line 11">
            <a:extLst>
              <a:ext uri="{FF2B5EF4-FFF2-40B4-BE49-F238E27FC236}">
                <a16:creationId xmlns="" xmlns:a16="http://schemas.microsoft.com/office/drawing/2014/main" id="{DD9F368F-3AB4-4E00-BAEF-56EA7319A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988" y="1115075"/>
            <a:ext cx="8789988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3B1F491-4312-40FF-867B-833989AD1F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169" y="2563136"/>
            <a:ext cx="2259815" cy="2818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="" xmlns:a16="http://schemas.microsoft.com/office/drawing/2014/main" id="{ACFA6705-FD60-4DD2-A1F1-52CE7BDD4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58069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Εισαγωγή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="" xmlns:a16="http://schemas.microsoft.com/office/drawing/2014/main" id="{7541A6F0-9750-4E8F-AD9E-AC3F180D7A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725906"/>
            <a:ext cx="8229600" cy="4525963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el-GR" altLang="el-GR" sz="1700" b="1" dirty="0">
                <a:latin typeface="Georgia" panose="02040502050405020303" pitchFamily="18" charset="0"/>
              </a:rPr>
              <a:t>Οι αλγόριθμοι τυφλής αναζήτησης προχωρούν σε βάθος ή πλάτος χωρίς ένδειξη για το αν πλησιάζουν σε τερματική κατάσταση</a:t>
            </a:r>
          </a:p>
          <a:p>
            <a:pPr eaLnBrk="1" hangingPunct="1">
              <a:lnSpc>
                <a:spcPct val="160000"/>
              </a:lnSpc>
            </a:pPr>
            <a:r>
              <a:rPr lang="el-GR" altLang="el-GR" sz="1700" b="1" dirty="0">
                <a:latin typeface="Georgia" panose="02040502050405020303" pitchFamily="18" charset="0"/>
              </a:rPr>
              <a:t>Σε πολλά προβλήματα ο χώρος αναζήτησης αυξάνεται ραγδαία (</a:t>
            </a:r>
            <a:r>
              <a:rPr lang="el-GR" altLang="el-GR" sz="1700" b="1" dirty="0">
                <a:solidFill>
                  <a:srgbClr val="008000"/>
                </a:solidFill>
                <a:latin typeface="Georgia" panose="02040502050405020303" pitchFamily="18" charset="0"/>
              </a:rPr>
              <a:t>συνδυαστική έκρηξη</a:t>
            </a:r>
            <a:r>
              <a:rPr lang="el-GR" altLang="el-GR" sz="1700" b="1" dirty="0">
                <a:latin typeface="Georgia" panose="02040502050405020303" pitchFamily="18" charset="0"/>
              </a:rPr>
              <a:t>)</a:t>
            </a:r>
          </a:p>
          <a:p>
            <a:pPr lvl="1" eaLnBrk="1" hangingPunct="1">
              <a:lnSpc>
                <a:spcPct val="160000"/>
              </a:lnSpc>
            </a:pPr>
            <a:r>
              <a:rPr lang="el-GR" altLang="el-GR" sz="1700" b="1" dirty="0">
                <a:solidFill>
                  <a:srgbClr val="FF0000"/>
                </a:solidFill>
                <a:latin typeface="Georgia" panose="02040502050405020303" pitchFamily="18" charset="0"/>
              </a:rPr>
              <a:t>Σκοπός</a:t>
            </a:r>
            <a:r>
              <a:rPr lang="el-GR" altLang="el-GR" sz="1700" b="1" dirty="0">
                <a:latin typeface="Georgia" panose="02040502050405020303" pitchFamily="18" charset="0"/>
              </a:rPr>
              <a:t>: Μείωση του αριθμού των καταστάσεων που επισκέπτεται ο αλγόριθμος</a:t>
            </a:r>
          </a:p>
          <a:p>
            <a:pPr lvl="1" eaLnBrk="1" hangingPunct="1">
              <a:lnSpc>
                <a:spcPct val="160000"/>
              </a:lnSpc>
            </a:pPr>
            <a:r>
              <a:rPr lang="el-GR" altLang="el-GR" sz="1700" b="1" dirty="0">
                <a:solidFill>
                  <a:srgbClr val="FF0000"/>
                </a:solidFill>
                <a:latin typeface="Georgia" panose="02040502050405020303" pitchFamily="18" charset="0"/>
              </a:rPr>
              <a:t>Απαιτείται</a:t>
            </a:r>
            <a:r>
              <a:rPr lang="el-GR" altLang="el-GR" sz="1700" b="1" dirty="0">
                <a:latin typeface="Georgia" panose="02040502050405020303" pitchFamily="18" charset="0"/>
              </a:rPr>
              <a:t>: Πληροφορία για αξιολόγηση των καταστάσεων που θα οδηγήσει γρηγορότερα στη λύση ή θα βοηθήσει στο κλάδεμα καταστάσεων που δεν οδηγούν πουθενά</a:t>
            </a:r>
          </a:p>
          <a:p>
            <a:pPr lvl="1" eaLnBrk="1" hangingPunct="1">
              <a:lnSpc>
                <a:spcPct val="160000"/>
              </a:lnSpc>
            </a:pPr>
            <a:r>
              <a:rPr lang="el-GR" altLang="el-GR" sz="1700" b="1" dirty="0">
                <a:latin typeface="Georgia" panose="02040502050405020303" pitchFamily="18" charset="0"/>
              </a:rPr>
              <a:t>Οι αλγόριθμοι που εκμεταλλεύονται τέτοιες πληροφορίες (ευριστικούς μηχανισμούς) ονομάζονται Αλγόριθμοι Ευριστικής Αναζήτησης.</a:t>
            </a:r>
            <a:endParaRPr lang="en-US" altLang="el-GR" sz="1700" b="1" dirty="0"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D2396345-5898-4F5D-8C65-BC5C28B7E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CB59BBB9-4102-4A5A-942C-3C0CC1DC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Παράδειγμα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32" y="645695"/>
            <a:ext cx="8534400" cy="5739063"/>
          </a:xfrm>
        </p:spPr>
        <p:txBody>
          <a:bodyPr/>
          <a:lstStyle/>
          <a:p>
            <a:pPr eaLnBrk="1" hangingPunct="1"/>
            <a:r>
              <a:rPr lang="el-GR" altLang="el-GR" sz="2000" b="1" dirty="0">
                <a:latin typeface="Georgia" panose="02040502050405020303" pitchFamily="18" charset="0"/>
              </a:rPr>
              <a:t>Παράδειγμα ευριστικής αναζήτησης είναι η συναρμολόγηση ενός puzzle </a:t>
            </a:r>
          </a:p>
          <a:p>
            <a:pPr lvl="1" eaLnBrk="1" hangingPunct="1"/>
            <a:r>
              <a:rPr lang="el-GR" altLang="el-GR" sz="2000" b="1" dirty="0">
                <a:latin typeface="Georgia" panose="02040502050405020303" pitchFamily="18" charset="0"/>
                <a:ea typeface="+mn-ea"/>
                <a:cs typeface="+mn-cs"/>
              </a:rPr>
              <a:t>Με τυφλή αναζήτηση θα έπρεπε να το φτιάξουμε χωρίς να δίνουμε σημασία στο χρώμα ή το σχήμα των κομματιών</a:t>
            </a:r>
          </a:p>
          <a:p>
            <a:pPr lvl="1" eaLnBrk="1" hangingPunct="1"/>
            <a:r>
              <a:rPr lang="el-GR" altLang="el-GR" sz="2000" b="1" dirty="0">
                <a:latin typeface="Georgia" panose="02040502050405020303" pitchFamily="18" charset="0"/>
                <a:ea typeface="+mn-ea"/>
                <a:cs typeface="+mn-cs"/>
              </a:rPr>
              <a:t>Στην πραγματικότητα ενεργούμε διαφορετικά</a:t>
            </a:r>
          </a:p>
          <a:p>
            <a:pPr lvl="2" eaLnBrk="1" hangingPunct="1"/>
            <a:r>
              <a:rPr lang="el-GR" altLang="el-GR" sz="2000" b="1" dirty="0">
                <a:latin typeface="Georgia" panose="02040502050405020303" pitchFamily="18" charset="0"/>
                <a:ea typeface="+mn-ea"/>
                <a:cs typeface="+mn-cs"/>
              </a:rPr>
              <a:t>Π.χ. Χωρίζουμε τα κομμάτια σε κατηγορίες ανάλογα με το σχήμα ή το χρώμα (π.χ. ουρανός-βουνό, γωνιακά-ενδιάμεσα)</a:t>
            </a:r>
          </a:p>
          <a:p>
            <a:pPr lvl="2" eaLnBrk="1" hangingPunct="1"/>
            <a:r>
              <a:rPr lang="el-GR" altLang="el-GR" sz="2000" b="1" dirty="0">
                <a:latin typeface="Georgia" panose="02040502050405020303" pitchFamily="18" charset="0"/>
                <a:ea typeface="+mn-ea"/>
                <a:cs typeface="+mn-cs"/>
              </a:rPr>
              <a:t>Οι ενέργειες αυτές αποτελούν έναν εμπειρικό ευριστικό μηχανισμό</a:t>
            </a:r>
          </a:p>
          <a:p>
            <a:pPr eaLnBrk="1" hangingPunct="1"/>
            <a:r>
              <a:rPr lang="el-GR" altLang="el-GR" sz="2000" b="1" dirty="0">
                <a:latin typeface="Georgia" panose="02040502050405020303" pitchFamily="18" charset="0"/>
              </a:rPr>
              <a:t>Οι ευριστικοί μηχανισμοί εξαρτώνται από τη γνώση που έχουμε για το πρόβλημα</a:t>
            </a:r>
          </a:p>
          <a:p>
            <a:pPr eaLnBrk="1" hangingPunct="1"/>
            <a:r>
              <a:rPr lang="el-GR" altLang="el-GR" sz="2000" b="1" dirty="0">
                <a:latin typeface="Georgia" panose="02040502050405020303" pitchFamily="18" charset="0"/>
              </a:rPr>
              <a:t>Οι ευριστικοί μηχανισμοί δεν είναι τέλειοι </a:t>
            </a:r>
            <a:endParaRPr lang="en-US" altLang="el-GR" sz="2000" b="1" dirty="0">
              <a:latin typeface="Georgia" panose="02040502050405020303" pitchFamily="18" charset="0"/>
            </a:endParaRPr>
          </a:p>
          <a:p>
            <a:pPr lvl="1" eaLnBrk="1" hangingPunct="1"/>
            <a:r>
              <a:rPr lang="el-GR" altLang="el-GR" sz="2000" b="1" dirty="0">
                <a:latin typeface="Georgia" panose="02040502050405020303" pitchFamily="18" charset="0"/>
                <a:ea typeface="+mn-ea"/>
                <a:cs typeface="+mn-cs"/>
              </a:rPr>
              <a:t>Πολλές φορές οδηγούν σε λανθασμένη κατεύθυνση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="" xmlns:a16="http://schemas.microsoft.com/office/drawing/2014/main" id="{82FFBD83-8676-4F74-BC53-41C427AB1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7660"/>
            <a:ext cx="8229600" cy="45987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Ευρετικός Μηχανισμός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="" xmlns:a16="http://schemas.microsoft.com/office/drawing/2014/main" id="{9F816406-C044-49AF-B9BF-C31D9A689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0394" y="672016"/>
            <a:ext cx="8229600" cy="5611858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el-GR" altLang="el-GR" sz="2000" b="1" i="1" dirty="0">
                <a:solidFill>
                  <a:srgbClr val="0070C0"/>
                </a:solidFill>
                <a:latin typeface="Georgia" panose="02040502050405020303" pitchFamily="18" charset="0"/>
              </a:rPr>
              <a:t>Ευριστικός (ευρετικός) μηχανισμός</a:t>
            </a:r>
            <a:r>
              <a:rPr lang="el-GR" altLang="el-GR" sz="2000" b="1" dirty="0">
                <a:solidFill>
                  <a:srgbClr val="0070C0"/>
                </a:solidFill>
                <a:latin typeface="Georgia" panose="02040502050405020303" pitchFamily="18" charset="0"/>
              </a:rPr>
              <a:t> </a:t>
            </a:r>
            <a:r>
              <a:rPr lang="el-GR" altLang="el-GR" sz="2000" dirty="0">
                <a:latin typeface="Georgia" panose="02040502050405020303" pitchFamily="18" charset="0"/>
              </a:rPr>
              <a:t>(heuristic): στρατηγική, βασισμένη στη γνώση για το συγκεκριμένο ή μη πρόβλημα που χρησιμοποιείται σα βοήθημα για τη γρήγορη επίλυσή του</a:t>
            </a:r>
            <a:r>
              <a:rPr lang="en-US" altLang="el-GR" sz="2000" dirty="0">
                <a:latin typeface="Georgia" panose="02040502050405020303" pitchFamily="18" charset="0"/>
              </a:rPr>
              <a:t> </a:t>
            </a:r>
            <a:endParaRPr lang="el-GR" altLang="el-GR" sz="2000" dirty="0">
              <a:latin typeface="Georgia" panose="02040502050405020303" pitchFamily="18" charset="0"/>
            </a:endParaRPr>
          </a:p>
          <a:p>
            <a:pPr eaLnBrk="1" hangingPunct="1">
              <a:lnSpc>
                <a:spcPct val="160000"/>
              </a:lnSpc>
            </a:pPr>
            <a:r>
              <a:rPr lang="el-GR" altLang="el-GR" sz="2000" dirty="0">
                <a:latin typeface="Georgia" panose="02040502050405020303" pitchFamily="18" charset="0"/>
              </a:rPr>
              <a:t>Ο ευριστικός μηχανισμός υλοποιείται συνήθως ως </a:t>
            </a:r>
            <a:r>
              <a:rPr lang="el-GR" altLang="el-GR" sz="2000" b="1" i="1" dirty="0">
                <a:solidFill>
                  <a:srgbClr val="0070C0"/>
                </a:solidFill>
                <a:latin typeface="Georgia" panose="02040502050405020303" pitchFamily="18" charset="0"/>
              </a:rPr>
              <a:t>ευριστική συνάρτηση</a:t>
            </a:r>
            <a:r>
              <a:rPr lang="el-GR" altLang="el-GR" sz="2000" b="1" i="1" dirty="0">
                <a:latin typeface="Georgia" panose="02040502050405020303" pitchFamily="18" charset="0"/>
              </a:rPr>
              <a:t> </a:t>
            </a:r>
            <a:r>
              <a:rPr lang="el-GR" altLang="el-GR" sz="2000" dirty="0">
                <a:latin typeface="Georgia" panose="02040502050405020303" pitchFamily="18" charset="0"/>
              </a:rPr>
              <a:t>(</a:t>
            </a:r>
            <a:r>
              <a:rPr lang="en-US" altLang="el-GR" sz="2000" dirty="0">
                <a:latin typeface="Georgia" panose="02040502050405020303" pitchFamily="18" charset="0"/>
              </a:rPr>
              <a:t>heuristic function</a:t>
            </a:r>
            <a:r>
              <a:rPr lang="el-GR" altLang="el-GR" sz="2000" dirty="0">
                <a:latin typeface="Georgia" panose="02040502050405020303" pitchFamily="18" charset="0"/>
              </a:rPr>
              <a:t>) </a:t>
            </a:r>
          </a:p>
          <a:p>
            <a:pPr lvl="1" eaLnBrk="1" hangingPunct="1">
              <a:lnSpc>
                <a:spcPct val="160000"/>
              </a:lnSpc>
            </a:pPr>
            <a:r>
              <a:rPr lang="el-GR" altLang="el-GR" sz="1800" dirty="0">
                <a:latin typeface="Georgia" panose="02040502050405020303" pitchFamily="18" charset="0"/>
              </a:rPr>
              <a:t>Ορίσματα: Μία κατάσταση </a:t>
            </a:r>
            <a:r>
              <a:rPr lang="en-US" altLang="el-GR" sz="1800" dirty="0">
                <a:latin typeface="Georgia" panose="02040502050405020303" pitchFamily="18" charset="0"/>
              </a:rPr>
              <a:t>S </a:t>
            </a:r>
            <a:r>
              <a:rPr lang="el-GR" altLang="el-GR" sz="1800" dirty="0">
                <a:latin typeface="Georgia" panose="02040502050405020303" pitchFamily="18" charset="0"/>
              </a:rPr>
              <a:t>και ένα σύνολο τελικών καταστάσεων</a:t>
            </a:r>
          </a:p>
          <a:p>
            <a:pPr lvl="1" eaLnBrk="1" hangingPunct="1">
              <a:lnSpc>
                <a:spcPct val="160000"/>
              </a:lnSpc>
            </a:pPr>
            <a:r>
              <a:rPr lang="el-GR" altLang="el-GR" sz="1800" dirty="0">
                <a:latin typeface="Georgia" panose="02040502050405020303" pitchFamily="18" charset="0"/>
              </a:rPr>
              <a:t>Αποτέλεσμα: Αριθμητική τιμή (Ευριστική τιμή)</a:t>
            </a:r>
          </a:p>
          <a:p>
            <a:pPr eaLnBrk="1" hangingPunct="1">
              <a:lnSpc>
                <a:spcPct val="160000"/>
              </a:lnSpc>
            </a:pPr>
            <a:r>
              <a:rPr lang="el-GR" altLang="el-GR" sz="2000" b="1" i="1" dirty="0">
                <a:solidFill>
                  <a:srgbClr val="0070C0"/>
                </a:solidFill>
                <a:latin typeface="Georgia" panose="02040502050405020303" pitchFamily="18" charset="0"/>
              </a:rPr>
              <a:t>Ευριστική τιμή </a:t>
            </a:r>
            <a:r>
              <a:rPr lang="el-GR" altLang="el-GR" sz="2000" dirty="0">
                <a:latin typeface="Georgia" panose="02040502050405020303" pitchFamily="18" charset="0"/>
              </a:rPr>
              <a:t>(</a:t>
            </a:r>
            <a:r>
              <a:rPr lang="en-US" altLang="el-GR" sz="2000" dirty="0">
                <a:latin typeface="Georgia" panose="02040502050405020303" pitchFamily="18" charset="0"/>
              </a:rPr>
              <a:t>heuristic value</a:t>
            </a:r>
            <a:r>
              <a:rPr lang="el-GR" altLang="el-GR" sz="2000" dirty="0">
                <a:latin typeface="Georgia" panose="02040502050405020303" pitchFamily="18" charset="0"/>
              </a:rPr>
              <a:t>): η τιμή της ευριστικής συνάρτησης </a:t>
            </a:r>
          </a:p>
          <a:p>
            <a:pPr lvl="1" eaLnBrk="1" hangingPunct="1">
              <a:lnSpc>
                <a:spcPct val="160000"/>
              </a:lnSpc>
            </a:pPr>
            <a:r>
              <a:rPr lang="el-GR" altLang="el-GR" sz="1800" dirty="0">
                <a:latin typeface="Georgia" panose="02040502050405020303" pitchFamily="18" charset="0"/>
              </a:rPr>
              <a:t>Δεν είναι η πραγματική απόσταση αλλά μία εκτίμηση (</a:t>
            </a:r>
            <a:r>
              <a:rPr lang="en-US" altLang="el-GR" sz="1800" dirty="0">
                <a:latin typeface="Georgia" panose="02040502050405020303" pitchFamily="18" charset="0"/>
              </a:rPr>
              <a:t>estimate</a:t>
            </a:r>
            <a:r>
              <a:rPr lang="el-GR" altLang="el-GR" sz="1800" i="1" dirty="0">
                <a:latin typeface="Georgia" panose="02040502050405020303" pitchFamily="18" charset="0"/>
              </a:rPr>
              <a:t>)</a:t>
            </a:r>
            <a:endParaRPr lang="en-US" altLang="el-GR" sz="1800" dirty="0"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1EC19CB7-57CA-454E-BF30-1BDC6591C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12197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C7DC4713-FF2E-4A0B-A84A-DEF2A53A1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="" xmlns:a16="http://schemas.microsoft.com/office/drawing/2014/main" id="{82FFBD83-8676-4F74-BC53-41C427AB1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7660"/>
            <a:ext cx="8229600" cy="45987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Ευρετικός Μηχανισμός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1EC19CB7-57CA-454E-BF30-1BDC6591C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12197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C7DC4713-FF2E-4A0B-A84A-DEF2A53A1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C796D0B-5C04-4522-91C9-C1C922CD0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93" y="938348"/>
            <a:ext cx="8619581" cy="548412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l-GR" altLang="el-GR" sz="2000" dirty="0">
                <a:latin typeface="Georgia" panose="02040502050405020303" pitchFamily="18" charset="0"/>
              </a:rPr>
              <a:t>Η ευρετική συνάρτηση </a:t>
            </a:r>
            <a:r>
              <a:rPr lang="en-US" altLang="el-GR" sz="2000" i="1" dirty="0">
                <a:latin typeface="Georgia" panose="02040502050405020303" pitchFamily="18" charset="0"/>
              </a:rPr>
              <a:t>f(n)</a:t>
            </a:r>
            <a:r>
              <a:rPr lang="el-GR" altLang="el-GR" sz="2000" dirty="0">
                <a:latin typeface="Georgia" panose="02040502050405020303" pitchFamily="18" charset="0"/>
              </a:rPr>
              <a:t> δίνει μια «εκτίμηση» του πόσο «κοστίζει» η μετάβαση από τον κόμβο </a:t>
            </a:r>
            <a:r>
              <a:rPr lang="en-US" altLang="el-GR" sz="2000" dirty="0">
                <a:latin typeface="Georgia" panose="02040502050405020303" pitchFamily="18" charset="0"/>
              </a:rPr>
              <a:t>n </a:t>
            </a:r>
            <a:r>
              <a:rPr lang="el-GR" altLang="el-GR" sz="2000" dirty="0">
                <a:latin typeface="Georgia" panose="02040502050405020303" pitchFamily="18" charset="0"/>
              </a:rPr>
              <a:t>στην τελική κατάσταση-στόχο </a:t>
            </a:r>
            <a:r>
              <a:rPr lang="en-US" altLang="el-GR" sz="2000" dirty="0">
                <a:latin typeface="Georgia" panose="02040502050405020303" pitchFamily="18" charset="0"/>
              </a:rPr>
              <a:t>g, </a:t>
            </a:r>
            <a:r>
              <a:rPr lang="el-GR" altLang="el-GR" sz="2000" dirty="0">
                <a:latin typeface="Georgia" panose="02040502050405020303" pitchFamily="18" charset="0"/>
              </a:rPr>
              <a:t>ούτως ώστε από όλες τις πιθανές επιλογές που έχουμε να επιλεγεί πρώτος  ο κόμβος με το μικρότερο κόστος. </a:t>
            </a:r>
            <a:endParaRPr lang="en-US" altLang="el-GR" sz="2000" dirty="0">
              <a:latin typeface="Georgia" panose="02040502050405020303" pitchFamily="18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l-GR" sz="2000" dirty="0">
              <a:latin typeface="Georgia" panose="02040502050405020303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l-GR" altLang="el-GR" sz="2000" b="1" dirty="0">
                <a:solidFill>
                  <a:srgbClr val="0070C0"/>
                </a:solidFill>
                <a:latin typeface="Georgia" panose="02040502050405020303" pitchFamily="18" charset="0"/>
              </a:rPr>
              <a:t>Η </a:t>
            </a:r>
            <a:r>
              <a:rPr lang="en-US" altLang="el-GR" sz="2000" b="1" i="1" dirty="0">
                <a:solidFill>
                  <a:srgbClr val="0070C0"/>
                </a:solidFill>
                <a:latin typeface="Georgia" panose="02040502050405020303" pitchFamily="18" charset="0"/>
              </a:rPr>
              <a:t>f</a:t>
            </a:r>
            <a:r>
              <a:rPr lang="el-GR" altLang="el-GR" sz="2000" b="1" i="1" dirty="0">
                <a:solidFill>
                  <a:srgbClr val="0070C0"/>
                </a:solidFill>
                <a:latin typeface="Georgia" panose="02040502050405020303" pitchFamily="18" charset="0"/>
              </a:rPr>
              <a:t> </a:t>
            </a:r>
            <a:r>
              <a:rPr lang="el-GR" altLang="el-GR" sz="2000" b="1" dirty="0">
                <a:solidFill>
                  <a:srgbClr val="0070C0"/>
                </a:solidFill>
                <a:latin typeface="Georgia" panose="02040502050405020303" pitchFamily="18" charset="0"/>
              </a:rPr>
              <a:t>μπορεί να οριστεί με 3 τρόπους</a:t>
            </a:r>
            <a:r>
              <a:rPr lang="en-US" altLang="el-GR" sz="2000" b="1" dirty="0">
                <a:solidFill>
                  <a:srgbClr val="0070C0"/>
                </a:solidFill>
                <a:latin typeface="Georgia" panose="02040502050405020303" pitchFamily="18" charset="0"/>
              </a:rPr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el-GR" altLang="el-GR" sz="1800" i="1" dirty="0">
                <a:latin typeface="Georgia" panose="02040502050405020303" pitchFamily="18" charset="0"/>
              </a:rPr>
              <a:t>Η </a:t>
            </a:r>
            <a:r>
              <a:rPr lang="en-US" altLang="el-GR" sz="1800" i="1" dirty="0">
                <a:latin typeface="Georgia" panose="02040502050405020303" pitchFamily="18" charset="0"/>
              </a:rPr>
              <a:t>f </a:t>
            </a:r>
            <a:r>
              <a:rPr lang="el-GR" altLang="el-GR" sz="1800" dirty="0">
                <a:latin typeface="Georgia" panose="02040502050405020303" pitchFamily="18" charset="0"/>
              </a:rPr>
              <a:t>μετρά την </a:t>
            </a:r>
            <a:r>
              <a:rPr lang="el-GR" altLang="el-GR" sz="1800" b="1" dirty="0">
                <a:solidFill>
                  <a:srgbClr val="008000"/>
                </a:solidFill>
                <a:latin typeface="Georgia" panose="02040502050405020303" pitchFamily="18" charset="0"/>
              </a:rPr>
              <a:t>αξία της κατάστασης </a:t>
            </a:r>
            <a:r>
              <a:rPr lang="en-US" altLang="el-GR" sz="1800" dirty="0">
                <a:latin typeface="Georgia" panose="02040502050405020303" pitchFamily="18" charset="0"/>
              </a:rPr>
              <a:t>(its “goodness”</a:t>
            </a:r>
            <a:r>
              <a:rPr lang="el-GR" altLang="el-GR" sz="1800" dirty="0">
                <a:latin typeface="Georgia" panose="02040502050405020303" pitchFamily="18" charset="0"/>
              </a:rPr>
              <a:t>, το πόσο «καλή» είναι</a:t>
            </a:r>
            <a:r>
              <a:rPr lang="en-US" altLang="el-GR" sz="1800" dirty="0">
                <a:latin typeface="Georgia" panose="02040502050405020303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</a:pPr>
            <a:endParaRPr lang="en-US" altLang="el-GR" sz="1800" i="1" dirty="0">
              <a:latin typeface="Georgia" panose="02040502050405020303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sz="1800" i="1" dirty="0">
                <a:latin typeface="Georgia" panose="02040502050405020303" pitchFamily="18" charset="0"/>
              </a:rPr>
              <a:t>Η </a:t>
            </a:r>
            <a:r>
              <a:rPr lang="en-US" altLang="el-GR" sz="1800" i="1" dirty="0">
                <a:latin typeface="Georgia" panose="02040502050405020303" pitchFamily="18" charset="0"/>
              </a:rPr>
              <a:t>f</a:t>
            </a:r>
            <a:r>
              <a:rPr lang="en-US" altLang="el-GR" sz="1800" dirty="0">
                <a:latin typeface="Georgia" panose="02040502050405020303" pitchFamily="18" charset="0"/>
              </a:rPr>
              <a:t> </a:t>
            </a:r>
            <a:r>
              <a:rPr lang="el-GR" altLang="el-GR" sz="1800" dirty="0">
                <a:latin typeface="Georgia" panose="02040502050405020303" pitchFamily="18" charset="0"/>
              </a:rPr>
              <a:t>μετρά το </a:t>
            </a:r>
            <a:r>
              <a:rPr lang="el-GR" altLang="el-GR" sz="1800" b="1" dirty="0">
                <a:solidFill>
                  <a:srgbClr val="008000"/>
                </a:solidFill>
                <a:latin typeface="Georgia" panose="02040502050405020303" pitchFamily="18" charset="0"/>
              </a:rPr>
              <a:t>εκτιμώμενο κόστος μετάβασης </a:t>
            </a:r>
            <a:r>
              <a:rPr lang="el-GR" altLang="el-GR" sz="1800" dirty="0">
                <a:latin typeface="Georgia" panose="02040502050405020303" pitchFamily="18" charset="0"/>
              </a:rPr>
              <a:t>από την τρέχουσα κατάσταση στο στόχο</a:t>
            </a:r>
            <a:r>
              <a:rPr lang="en-US" altLang="el-GR" sz="1800" dirty="0">
                <a:latin typeface="Georgia" panose="02040502050405020303" pitchFamily="18" charset="0"/>
              </a:rPr>
              <a:t>:</a:t>
            </a:r>
          </a:p>
          <a:p>
            <a:pPr marL="914400" lvl="2" indent="0" eaLnBrk="1" hangingPunct="1">
              <a:lnSpc>
                <a:spcPct val="80000"/>
              </a:lnSpc>
              <a:buNone/>
            </a:pPr>
            <a:r>
              <a:rPr lang="en-US" altLang="el-GR" sz="1600" b="1" i="1" dirty="0">
                <a:solidFill>
                  <a:srgbClr val="C00000"/>
                </a:solidFill>
                <a:latin typeface="Georgia" panose="02040502050405020303" pitchFamily="18" charset="0"/>
              </a:rPr>
              <a:t>   </a:t>
            </a:r>
            <a:r>
              <a:rPr lang="en-US" altLang="el-GR" sz="1800" b="1" i="1" dirty="0">
                <a:solidFill>
                  <a:srgbClr val="C00000"/>
                </a:solidFill>
                <a:latin typeface="Georgia" panose="02040502050405020303" pitchFamily="18" charset="0"/>
              </a:rPr>
              <a:t>f(n) = h(n) </a:t>
            </a:r>
          </a:p>
          <a:p>
            <a:pPr marL="914400" lvl="2" indent="0" eaLnBrk="1" hangingPunct="1">
              <a:lnSpc>
                <a:spcPct val="80000"/>
              </a:lnSpc>
              <a:buNone/>
            </a:pPr>
            <a:r>
              <a:rPr lang="el-GR" altLang="el-GR" sz="1600" dirty="0">
                <a:latin typeface="Georgia" panose="02040502050405020303" pitchFamily="18" charset="0"/>
              </a:rPr>
              <a:t>όπου </a:t>
            </a:r>
            <a:r>
              <a:rPr lang="en-US" altLang="el-GR" sz="1600" i="1" dirty="0">
                <a:latin typeface="Georgia" panose="02040502050405020303" pitchFamily="18" charset="0"/>
              </a:rPr>
              <a:t>h(n)</a:t>
            </a:r>
            <a:r>
              <a:rPr lang="en-US" altLang="el-GR" sz="1600" dirty="0">
                <a:latin typeface="Georgia" panose="02040502050405020303" pitchFamily="18" charset="0"/>
              </a:rPr>
              <a:t> = </a:t>
            </a:r>
            <a:r>
              <a:rPr lang="el-GR" altLang="el-GR" sz="1600" dirty="0">
                <a:latin typeface="Georgia" panose="02040502050405020303" pitchFamily="18" charset="0"/>
              </a:rPr>
              <a:t>η εκτίμηση μετάβασης στο στόχο</a:t>
            </a:r>
            <a:endParaRPr lang="en-US" altLang="el-GR" sz="1600" dirty="0">
              <a:latin typeface="Georgia" panose="02040502050405020303" pitchFamily="18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l-GR" sz="1800" i="1" dirty="0">
              <a:latin typeface="Georgia" panose="02040502050405020303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l-GR" altLang="el-GR" sz="1800" i="1" dirty="0">
                <a:latin typeface="Georgia" panose="02040502050405020303" pitchFamily="18" charset="0"/>
              </a:rPr>
              <a:t>Η </a:t>
            </a:r>
            <a:r>
              <a:rPr lang="en-US" altLang="el-GR" sz="1800" i="1" dirty="0">
                <a:latin typeface="Georgia" panose="02040502050405020303" pitchFamily="18" charset="0"/>
              </a:rPr>
              <a:t>f</a:t>
            </a:r>
            <a:r>
              <a:rPr lang="en-US" altLang="el-GR" sz="1800" dirty="0">
                <a:latin typeface="Georgia" panose="02040502050405020303" pitchFamily="18" charset="0"/>
              </a:rPr>
              <a:t> </a:t>
            </a:r>
            <a:r>
              <a:rPr lang="el-GR" altLang="el-GR" sz="1800" dirty="0">
                <a:latin typeface="Georgia" panose="02040502050405020303" pitchFamily="18" charset="0"/>
              </a:rPr>
              <a:t>μετρά το </a:t>
            </a:r>
            <a:r>
              <a:rPr lang="el-GR" altLang="el-GR" sz="1800" b="1" dirty="0">
                <a:solidFill>
                  <a:srgbClr val="008000"/>
                </a:solidFill>
                <a:latin typeface="Georgia" panose="02040502050405020303" pitchFamily="18" charset="0"/>
              </a:rPr>
              <a:t>εκτιμώμενο κόστος μετάβασης από την τρέχουσα κατάσταση στο στόχο ΚΑΙ το κόστος του υπάρχοντος μονοπατιού σε αυτή</a:t>
            </a:r>
            <a:r>
              <a:rPr lang="en-US" altLang="el-GR" sz="1800" dirty="0">
                <a:latin typeface="Georgia" panose="02040502050405020303" pitchFamily="18" charset="0"/>
              </a:rPr>
              <a:t>:</a:t>
            </a:r>
          </a:p>
          <a:p>
            <a:pPr marL="914400" lvl="2" indent="0" eaLnBrk="1" hangingPunct="1">
              <a:lnSpc>
                <a:spcPct val="80000"/>
              </a:lnSpc>
              <a:buNone/>
            </a:pPr>
            <a:r>
              <a:rPr lang="en-US" altLang="el-GR" sz="1600" i="1" dirty="0">
                <a:latin typeface="Georgia" panose="02040502050405020303" pitchFamily="18" charset="0"/>
              </a:rPr>
              <a:t>   </a:t>
            </a:r>
            <a:r>
              <a:rPr lang="en-US" altLang="el-GR" sz="1800" b="1" i="1" dirty="0">
                <a:solidFill>
                  <a:srgbClr val="C00000"/>
                </a:solidFill>
                <a:latin typeface="Georgia" panose="02040502050405020303" pitchFamily="18" charset="0"/>
              </a:rPr>
              <a:t>f(n)</a:t>
            </a:r>
            <a:r>
              <a:rPr lang="en-US" altLang="el-GR" sz="1800" b="1" dirty="0">
                <a:solidFill>
                  <a:srgbClr val="C00000"/>
                </a:solidFill>
                <a:latin typeface="Georgia" panose="02040502050405020303" pitchFamily="18" charset="0"/>
              </a:rPr>
              <a:t> = </a:t>
            </a:r>
            <a:r>
              <a:rPr lang="en-US" altLang="el-GR" sz="1800" b="1" i="1" dirty="0">
                <a:solidFill>
                  <a:srgbClr val="C00000"/>
                </a:solidFill>
                <a:latin typeface="Georgia" panose="02040502050405020303" pitchFamily="18" charset="0"/>
              </a:rPr>
              <a:t>g(n)</a:t>
            </a:r>
            <a:r>
              <a:rPr lang="en-US" altLang="el-GR" sz="1800" b="1" dirty="0">
                <a:solidFill>
                  <a:srgbClr val="C00000"/>
                </a:solidFill>
                <a:latin typeface="Georgia" panose="02040502050405020303" pitchFamily="18" charset="0"/>
              </a:rPr>
              <a:t> + </a:t>
            </a:r>
            <a:r>
              <a:rPr lang="en-US" altLang="el-GR" sz="1800" b="1" i="1" dirty="0">
                <a:solidFill>
                  <a:srgbClr val="C00000"/>
                </a:solidFill>
                <a:latin typeface="Georgia" panose="02040502050405020303" pitchFamily="18" charset="0"/>
              </a:rPr>
              <a:t>h(n)</a:t>
            </a:r>
            <a:r>
              <a:rPr lang="en-US" altLang="el-GR" sz="1800" b="1" dirty="0">
                <a:solidFill>
                  <a:srgbClr val="C00000"/>
                </a:solidFill>
                <a:latin typeface="Georgia" panose="02040502050405020303" pitchFamily="18" charset="0"/>
              </a:rPr>
              <a:t> </a:t>
            </a:r>
          </a:p>
          <a:p>
            <a:pPr marL="914400" lvl="2" indent="0" eaLnBrk="1" hangingPunct="1">
              <a:lnSpc>
                <a:spcPct val="80000"/>
              </a:lnSpc>
              <a:buNone/>
            </a:pPr>
            <a:r>
              <a:rPr lang="el-GR" altLang="el-GR" sz="1600" dirty="0">
                <a:latin typeface="Georgia" panose="02040502050405020303" pitchFamily="18" charset="0"/>
              </a:rPr>
              <a:t>όπου</a:t>
            </a:r>
            <a:r>
              <a:rPr lang="en-US" altLang="el-GR" sz="1600" dirty="0">
                <a:latin typeface="Georgia" panose="02040502050405020303" pitchFamily="18" charset="0"/>
              </a:rPr>
              <a:t> </a:t>
            </a:r>
            <a:r>
              <a:rPr lang="en-US" altLang="el-GR" sz="1600" i="1" dirty="0">
                <a:latin typeface="Georgia" panose="02040502050405020303" pitchFamily="18" charset="0"/>
              </a:rPr>
              <a:t>g(n)</a:t>
            </a:r>
            <a:r>
              <a:rPr lang="en-US" altLang="el-GR" sz="1600" dirty="0">
                <a:latin typeface="Georgia" panose="02040502050405020303" pitchFamily="18" charset="0"/>
              </a:rPr>
              <a:t> = </a:t>
            </a:r>
            <a:r>
              <a:rPr lang="el-GR" altLang="el-GR" sz="1600" dirty="0">
                <a:latin typeface="Georgia" panose="02040502050405020303" pitchFamily="18" charset="0"/>
              </a:rPr>
              <a:t>το κόστος για να φτάσουμε στην </a:t>
            </a:r>
            <a:r>
              <a:rPr lang="en-US" altLang="el-GR" sz="1600" i="1" dirty="0">
                <a:latin typeface="Georgia" panose="02040502050405020303" pitchFamily="18" charset="0"/>
              </a:rPr>
              <a:t>n </a:t>
            </a:r>
            <a:r>
              <a:rPr lang="el-GR" altLang="el-GR" sz="1600" i="1" dirty="0">
                <a:latin typeface="Georgia" panose="02040502050405020303" pitchFamily="18" charset="0"/>
              </a:rPr>
              <a:t>από την αρχική κατάσταση</a:t>
            </a:r>
            <a:endParaRPr lang="el-GR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3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="" xmlns:a16="http://schemas.microsoft.com/office/drawing/2014/main" id="{659BD1F3-014A-4865-852A-8634B5452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263"/>
            <a:ext cx="8229600" cy="498427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Ευριστικές συναρτήσεις σε λαβύρινθο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055" name="Rectangle 3">
            <a:extLst>
              <a:ext uri="{FF2B5EF4-FFF2-40B4-BE49-F238E27FC236}">
                <a16:creationId xmlns="" xmlns:a16="http://schemas.microsoft.com/office/drawing/2014/main" id="{C561A6F9-A7C7-4870-BBDF-A3E68354DAB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038" y="850900"/>
            <a:ext cx="8640762" cy="5832475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el-GR" altLang="el-GR" sz="2000" dirty="0">
                <a:latin typeface="Georgia" panose="02040502050405020303" pitchFamily="18" charset="0"/>
              </a:rPr>
              <a:t>Ευκλείδεια απόσταση (</a:t>
            </a:r>
            <a:r>
              <a:rPr lang="en-US" altLang="el-GR" sz="2000" dirty="0">
                <a:latin typeface="Georgia" panose="02040502050405020303" pitchFamily="18" charset="0"/>
              </a:rPr>
              <a:t>Euclidian distance</a:t>
            </a:r>
            <a:r>
              <a:rPr lang="el-GR" altLang="el-GR" sz="2000" dirty="0">
                <a:latin typeface="Georgia" panose="02040502050405020303" pitchFamily="18" charset="0"/>
              </a:rPr>
              <a:t>):</a:t>
            </a:r>
          </a:p>
          <a:p>
            <a:pPr eaLnBrk="1" hangingPunct="1">
              <a:lnSpc>
                <a:spcPct val="160000"/>
              </a:lnSpc>
            </a:pPr>
            <a:r>
              <a:rPr lang="el-GR" altLang="el-GR" sz="2000" dirty="0">
                <a:latin typeface="Georgia" panose="02040502050405020303" pitchFamily="18" charset="0"/>
              </a:rPr>
              <a:t>Απόσταση </a:t>
            </a:r>
            <a:r>
              <a:rPr lang="en-US" altLang="el-GR" sz="2000" dirty="0">
                <a:latin typeface="Georgia" panose="02040502050405020303" pitchFamily="18" charset="0"/>
              </a:rPr>
              <a:t>Manhattan (Manhattan distance</a:t>
            </a:r>
            <a:r>
              <a:rPr lang="el-GR" altLang="el-GR" sz="2000" dirty="0">
                <a:latin typeface="Georgia" panose="02040502050405020303" pitchFamily="18" charset="0"/>
              </a:rPr>
              <a:t>):</a:t>
            </a:r>
            <a:endParaRPr lang="en-US" altLang="el-GR" sz="2000" dirty="0">
              <a:latin typeface="Georgia" panose="02040502050405020303" pitchFamily="18" charset="0"/>
            </a:endParaRPr>
          </a:p>
          <a:p>
            <a:pPr eaLnBrk="1" hangingPunct="1">
              <a:lnSpc>
                <a:spcPct val="160000"/>
              </a:lnSpc>
            </a:pPr>
            <a:r>
              <a:rPr lang="en-US" altLang="el-GR" sz="2000" dirty="0">
                <a:latin typeface="Georgia" panose="02040502050405020303" pitchFamily="18" charset="0"/>
              </a:rPr>
              <a:t>Md(S,F)=|5-15| + |4-10|=10+6=16</a:t>
            </a:r>
            <a:r>
              <a:rPr lang="en-US" altLang="el-GR" sz="2000" dirty="0"/>
              <a:t>.</a:t>
            </a:r>
          </a:p>
        </p:txBody>
      </p:sp>
      <p:sp>
        <p:nvSpPr>
          <p:cNvPr id="2056" name="Rectangle 5">
            <a:extLst>
              <a:ext uri="{FF2B5EF4-FFF2-40B4-BE49-F238E27FC236}">
                <a16:creationId xmlns="" xmlns:a16="http://schemas.microsoft.com/office/drawing/2014/main" id="{C894B0C0-C18D-48FF-B08E-4139DAB36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l-GR" altLang="el-GR"/>
          </a:p>
        </p:txBody>
      </p:sp>
      <p:graphicFrame>
        <p:nvGraphicFramePr>
          <p:cNvPr id="2050" name="Object 4">
            <a:extLst>
              <a:ext uri="{FF2B5EF4-FFF2-40B4-BE49-F238E27FC236}">
                <a16:creationId xmlns="" xmlns:a16="http://schemas.microsoft.com/office/drawing/2014/main" id="{F0E81C28-5574-4C30-91AE-283C96BC9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204674"/>
              </p:ext>
            </p:extLst>
          </p:nvPr>
        </p:nvGraphicFramePr>
        <p:xfrm>
          <a:off x="5310187" y="952499"/>
          <a:ext cx="32289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" name="Equation" r:id="rId3" imgW="2209800" imgH="292100" progId="Equation.DSMT4">
                  <p:embed/>
                </p:oleObj>
              </mc:Choice>
              <mc:Fallback>
                <p:oleObj name="Equation" r:id="rId3" imgW="2209800" imgH="292100" progId="Equation.DSMT4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="" xmlns:a16="http://schemas.microsoft.com/office/drawing/2014/main" id="{F0E81C28-5574-4C30-91AE-283C96BC95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7" y="952499"/>
                        <a:ext cx="3228975" cy="4191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6">
            <a:extLst>
              <a:ext uri="{FF2B5EF4-FFF2-40B4-BE49-F238E27FC236}">
                <a16:creationId xmlns="" xmlns:a16="http://schemas.microsoft.com/office/drawing/2014/main" id="{A9B59EEF-78AE-4391-A08B-A97E39803807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23260442"/>
              </p:ext>
            </p:extLst>
          </p:nvPr>
        </p:nvGraphicFramePr>
        <p:xfrm>
          <a:off x="5492750" y="1572814"/>
          <a:ext cx="32400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" name="Equation" r:id="rId5" imgW="2222280" imgH="253800" progId="Equation.DSMT4">
                  <p:embed/>
                </p:oleObj>
              </mc:Choice>
              <mc:Fallback>
                <p:oleObj name="Equation" r:id="rId5" imgW="2222280" imgH="253800" progId="Equation.DSMT4">
                  <p:embed/>
                  <p:pic>
                    <p:nvPicPr>
                      <p:cNvPr id="2051" name="Object 6">
                        <a:extLst>
                          <a:ext uri="{FF2B5EF4-FFF2-40B4-BE49-F238E27FC236}">
                            <a16:creationId xmlns="" xmlns:a16="http://schemas.microsoft.com/office/drawing/2014/main" id="{A9B59EEF-78AE-4391-A08B-A97E398038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0" y="1572814"/>
                        <a:ext cx="3240088" cy="3698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7" name="Picture 8" descr="image39E">
            <a:extLst>
              <a:ext uri="{FF2B5EF4-FFF2-40B4-BE49-F238E27FC236}">
                <a16:creationId xmlns="" xmlns:a16="http://schemas.microsoft.com/office/drawing/2014/main" id="{B8D999A7-24A3-46AE-B8C1-13FF7C4E7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87638"/>
            <a:ext cx="4167187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52" name="Object 12">
            <a:extLst>
              <a:ext uri="{FF2B5EF4-FFF2-40B4-BE49-F238E27FC236}">
                <a16:creationId xmlns="" xmlns:a16="http://schemas.microsoft.com/office/drawing/2014/main" id="{B74BCBEB-26EB-4FAF-9C22-3ADD2F9CBE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800036"/>
              </p:ext>
            </p:extLst>
          </p:nvPr>
        </p:nvGraphicFramePr>
        <p:xfrm>
          <a:off x="4772024" y="3567113"/>
          <a:ext cx="37671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2" name="Equation" r:id="rId8" imgW="2577960" imgH="279360" progId="Equation.DSMT4">
                  <p:embed/>
                </p:oleObj>
              </mc:Choice>
              <mc:Fallback>
                <p:oleObj name="Equation" r:id="rId8" imgW="2577960" imgH="279360" progId="Equation.DSMT4">
                  <p:embed/>
                  <p:pic>
                    <p:nvPicPr>
                      <p:cNvPr id="2052" name="Object 12">
                        <a:extLst>
                          <a:ext uri="{FF2B5EF4-FFF2-40B4-BE49-F238E27FC236}">
                            <a16:creationId xmlns="" xmlns:a16="http://schemas.microsoft.com/office/drawing/2014/main" id="{B74BCBEB-26EB-4FAF-9C22-3ADD2F9CBE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024" y="3567113"/>
                        <a:ext cx="3767138" cy="4000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3">
            <a:extLst>
              <a:ext uri="{FF2B5EF4-FFF2-40B4-BE49-F238E27FC236}">
                <a16:creationId xmlns="" xmlns:a16="http://schemas.microsoft.com/office/drawing/2014/main" id="{765F5F3F-31E4-448C-B952-6E7703D072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177042"/>
              </p:ext>
            </p:extLst>
          </p:nvPr>
        </p:nvGraphicFramePr>
        <p:xfrm>
          <a:off x="4772024" y="4860132"/>
          <a:ext cx="329565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" name="Equation" r:id="rId10" imgW="2260440" imgH="253800" progId="Equation.DSMT4">
                  <p:embed/>
                </p:oleObj>
              </mc:Choice>
              <mc:Fallback>
                <p:oleObj name="Equation" r:id="rId10" imgW="2260440" imgH="253800" progId="Equation.DSMT4">
                  <p:embed/>
                  <p:pic>
                    <p:nvPicPr>
                      <p:cNvPr id="2053" name="Object 13">
                        <a:extLst>
                          <a:ext uri="{FF2B5EF4-FFF2-40B4-BE49-F238E27FC236}">
                            <a16:creationId xmlns="" xmlns:a16="http://schemas.microsoft.com/office/drawing/2014/main" id="{765F5F3F-31E4-448C-B952-6E7703D072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024" y="4860132"/>
                        <a:ext cx="3295650" cy="3698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ine 7">
            <a:extLst>
              <a:ext uri="{FF2B5EF4-FFF2-40B4-BE49-F238E27FC236}">
                <a16:creationId xmlns="" xmlns:a16="http://schemas.microsoft.com/office/drawing/2014/main" id="{080344F5-3D36-40B2-9F70-A508ABFE4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60351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6E0E17B2-C810-4A7F-9387-C542F95D9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="" xmlns:a16="http://schemas.microsoft.com/office/drawing/2014/main" id="{B5118AC1-5904-43F6-B607-9E2963AA6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82561"/>
            <a:ext cx="8229600" cy="563552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Ευριστικές συναρτήσεις στο </a:t>
            </a: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N</a:t>
            </a: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-</a:t>
            </a: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Puzzle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="" xmlns:a16="http://schemas.microsoft.com/office/drawing/2014/main" id="{513DFF36-87B8-4728-8F11-584F48418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2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l-GR" altLang="el-GR"/>
          </a:p>
        </p:txBody>
      </p:sp>
      <p:sp>
        <p:nvSpPr>
          <p:cNvPr id="3078" name="Rectangle 7">
            <a:extLst>
              <a:ext uri="{FF2B5EF4-FFF2-40B4-BE49-F238E27FC236}">
                <a16:creationId xmlns="" xmlns:a16="http://schemas.microsoft.com/office/drawing/2014/main" id="{D9EABA27-2AF5-4B89-B44A-02902DC54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33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l-GR" altLang="el-GR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EBD1AE4-6CCE-446D-A065-E501953F0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4" y="981856"/>
            <a:ext cx="8851194" cy="4704564"/>
          </a:xfrm>
          <a:prstGeom prst="rect">
            <a:avLst/>
          </a:prstGeom>
        </p:spPr>
      </p:pic>
      <p:sp>
        <p:nvSpPr>
          <p:cNvPr id="5" name="Line 7">
            <a:extLst>
              <a:ext uri="{FF2B5EF4-FFF2-40B4-BE49-F238E27FC236}">
                <a16:creationId xmlns="" xmlns:a16="http://schemas.microsoft.com/office/drawing/2014/main" id="{3E70D0E2-2B51-49EF-95CD-A8E69F6E6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4" y="681536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1">
            <a:extLst>
              <a:ext uri="{FF2B5EF4-FFF2-40B4-BE49-F238E27FC236}">
                <a16:creationId xmlns="" xmlns:a16="http://schemas.microsoft.com/office/drawing/2014/main" id="{5CF0F6DE-2846-49BF-B217-3D42DFB92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5">
            <a:extLst>
              <a:ext uri="{FF2B5EF4-FFF2-40B4-BE49-F238E27FC236}">
                <a16:creationId xmlns="" xmlns:a16="http://schemas.microsoft.com/office/drawing/2014/main" id="{FB417C33-B427-409B-8A1A-00525B24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33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l-GR" altLang="el-GR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3FB6387-25A2-463D-BEB3-2859BECD0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18" y="2294845"/>
            <a:ext cx="8428383" cy="4051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F0D3B57A-FF65-4F44-8FCF-679078D09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379" y="888965"/>
            <a:ext cx="1902091" cy="1889196"/>
          </a:xfrm>
          <a:prstGeom prst="rect">
            <a:avLst/>
          </a:prstGeom>
        </p:spPr>
      </p:pic>
      <p:sp>
        <p:nvSpPr>
          <p:cNvPr id="10" name="Line 7">
            <a:extLst>
              <a:ext uri="{FF2B5EF4-FFF2-40B4-BE49-F238E27FC236}">
                <a16:creationId xmlns="" xmlns:a16="http://schemas.microsoft.com/office/drawing/2014/main" id="{A9811952-B6BF-42B0-8236-0B627301B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64026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1">
            <a:extLst>
              <a:ext uri="{FF2B5EF4-FFF2-40B4-BE49-F238E27FC236}">
                <a16:creationId xmlns="" xmlns:a16="http://schemas.microsoft.com/office/drawing/2014/main" id="{A453F65B-CEB4-4B42-9A28-2C721E10B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="" xmlns:a16="http://schemas.microsoft.com/office/drawing/2014/main" id="{07AAE0B5-BDAF-4F82-B865-703C747A5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2561"/>
            <a:ext cx="8229600" cy="56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l-GR" b="1" kern="1200" dirty="0">
                <a:latin typeface="Georgia" panose="02040502050405020303" pitchFamily="18" charset="0"/>
              </a:rPr>
              <a:t>Ευριστικές συναρτήσεις στο </a:t>
            </a:r>
            <a:r>
              <a:rPr lang="en-US" b="1" kern="1200" dirty="0">
                <a:latin typeface="Georgia" panose="02040502050405020303" pitchFamily="18" charset="0"/>
              </a:rPr>
              <a:t>N</a:t>
            </a:r>
            <a:r>
              <a:rPr lang="el-GR" b="1" kern="1200" dirty="0">
                <a:latin typeface="Georgia" panose="02040502050405020303" pitchFamily="18" charset="0"/>
              </a:rPr>
              <a:t>-</a:t>
            </a:r>
            <a:r>
              <a:rPr lang="en-US" b="1" kern="1200" dirty="0">
                <a:latin typeface="Georgia" panose="02040502050405020303" pitchFamily="18" charset="0"/>
              </a:rPr>
              <a:t>Puzzle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="" xmlns:a16="http://schemas.microsoft.com/office/drawing/2014/main" id="{8CDD80FD-A356-4F91-87A1-445E4B962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198" y="3402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Greedy Best First Search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="" xmlns:a16="http://schemas.microsoft.com/office/drawing/2014/main" id="{C7CBA3D1-0319-416B-8E3F-AA5954A67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2" y="667854"/>
            <a:ext cx="8785225" cy="1032634"/>
          </a:xfrm>
        </p:spPr>
        <p:txBody>
          <a:bodyPr/>
          <a:lstStyle/>
          <a:p>
            <a:pPr eaLnBrk="1" hangingPunct="1"/>
            <a:r>
              <a:rPr lang="el-GR" altLang="el-GR" sz="2000" b="1" dirty="0">
                <a:latin typeface="Georgia" panose="02040502050405020303" pitchFamily="18" charset="0"/>
              </a:rPr>
              <a:t>Ο αλγόριθμος</a:t>
            </a:r>
            <a:r>
              <a:rPr lang="el-GR" altLang="el-GR" sz="2000" b="1" i="1" dirty="0">
                <a:latin typeface="Georgia" panose="02040502050405020303" pitchFamily="18" charset="0"/>
              </a:rPr>
              <a:t> </a:t>
            </a:r>
            <a:r>
              <a:rPr lang="en-US" altLang="el-GR" sz="2000" b="1" i="1" dirty="0">
                <a:latin typeface="Georgia" panose="02040502050405020303" pitchFamily="18" charset="0"/>
              </a:rPr>
              <a:t>Greedy Best First </a:t>
            </a:r>
            <a:r>
              <a:rPr lang="el-GR" altLang="el-GR" sz="2000" b="1" i="1" dirty="0">
                <a:latin typeface="Georgia" panose="02040502050405020303" pitchFamily="18" charset="0"/>
              </a:rPr>
              <a:t>S</a:t>
            </a:r>
            <a:r>
              <a:rPr lang="en-US" altLang="el-GR" sz="2000" b="1" i="1" dirty="0" err="1">
                <a:latin typeface="Georgia" panose="02040502050405020303" pitchFamily="18" charset="0"/>
              </a:rPr>
              <a:t>earch</a:t>
            </a:r>
            <a:r>
              <a:rPr lang="el-GR" altLang="el-GR" sz="2000" b="1" dirty="0">
                <a:latin typeface="Georgia" panose="02040502050405020303" pitchFamily="18" charset="0"/>
              </a:rPr>
              <a:t> </a:t>
            </a:r>
            <a:r>
              <a:rPr lang="el-GR" altLang="el-GR" sz="2000" b="1" dirty="0">
                <a:solidFill>
                  <a:srgbClr val="006600"/>
                </a:solidFill>
                <a:latin typeface="Georgia" panose="02040502050405020303" pitchFamily="18" charset="0"/>
              </a:rPr>
              <a:t>επιλέγει προς επέκταση την κατάσταση με την μικρότερη ευριστική τιμή, κρατώντας τις υπόλοιπες στο μέτωπο αναζήτησης</a:t>
            </a:r>
            <a:endParaRPr lang="el-GR" altLang="el-GR" sz="2000" dirty="0">
              <a:solidFill>
                <a:srgbClr val="006600"/>
              </a:solidFill>
              <a:latin typeface="Georgia" panose="02040502050405020303" pitchFamily="18" charset="0"/>
            </a:endParaRPr>
          </a:p>
        </p:txBody>
      </p:sp>
      <p:sp>
        <p:nvSpPr>
          <p:cNvPr id="12292" name="Text Box 4">
            <a:extLst>
              <a:ext uri="{FF2B5EF4-FFF2-40B4-BE49-F238E27FC236}">
                <a16:creationId xmlns="" xmlns:a16="http://schemas.microsoft.com/office/drawing/2014/main" id="{6F34863C-3AC3-4B34-9E0F-76E00B960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2" y="1772340"/>
            <a:ext cx="8964613" cy="465296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l-GR" altLang="el-GR" b="1" dirty="0">
                <a:solidFill>
                  <a:srgbClr val="000000"/>
                </a:solidFill>
              </a:rPr>
              <a:t>Ο αλγόριθμος </a:t>
            </a:r>
            <a:r>
              <a:rPr lang="en-US" altLang="el-GR" b="1" dirty="0">
                <a:solidFill>
                  <a:srgbClr val="000000"/>
                </a:solidFill>
              </a:rPr>
              <a:t>Greedy </a:t>
            </a:r>
            <a:r>
              <a:rPr lang="en-US" altLang="el-GR" b="1" dirty="0" err="1">
                <a:solidFill>
                  <a:srgbClr val="000000"/>
                </a:solidFill>
              </a:rPr>
              <a:t>BestFS</a:t>
            </a:r>
            <a:r>
              <a:rPr lang="el-GR" altLang="el-GR" b="1" dirty="0">
                <a:solidFill>
                  <a:srgbClr val="000000"/>
                </a:solidFill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Βάλε την αρχική κατάσταση στο μέτωπο της αναζήτησης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2.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το μέτωπο της αναζήτησης είναι κενό τότε σταμάτησε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3.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Βγάλε την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l-GR" altLang="el-GR" b="1" baseline="30000" dirty="0">
                <a:solidFill>
                  <a:srgbClr val="000000"/>
                </a:solidFill>
                <a:latin typeface="Courier New" panose="02070309020205020404" pitchFamily="49" charset="0"/>
              </a:rPr>
              <a:t>η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 κατάσταση από το μέτωπο της αναζήτησης, έστω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S</a:t>
            </a:r>
            <a:endParaRPr lang="el-GR" altLang="el-GR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4.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η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ανήκει στο κλειστό σύνολο τότε πήγαινε στο βήμα 2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5.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η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είναι μία από τις τελικές, τότε ανέφερε τη λύση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6.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θέλεις άλλες λύσεις πήγαινε στο βήμα 2 Αλλιώς σταμάτησε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7.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Εφάρμοσε τους τελεστές για να βρεις τις καταστάσεις-παιδιά</a:t>
            </a:r>
            <a:endParaRPr lang="en-US" altLang="el-GR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8.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Εφάρμοσε την ευριστική συνάρτηση σε κάθε παιδί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8.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Βάλε τα παιδιά στο μετώπο αναζήτησης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9. Ταξινόμησε το μέτωπο με αύξουσα σειρά ευριστικών τιμών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9.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Βάλε την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στο κλειστό σύνολο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10.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Πήγαινε στο βήμα 2</a:t>
            </a:r>
            <a:endParaRPr lang="en-US" altLang="el-GR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47A83D8D-9A15-420C-8011-F88D61EF5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6FF7A044-8455-44AF-8D35-90EC9BEBC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="" xmlns:a16="http://schemas.microsoft.com/office/drawing/2014/main" id="{1C4FDE07-5058-4FDF-A8CD-A73F26597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612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Algorithm Greedy </a:t>
            </a:r>
            <a:r>
              <a:rPr lang="en-US" sz="32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BestFS</a:t>
            </a:r>
            <a:r>
              <a:rPr lang="en-US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(Initial, Final)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9A7C32E-528B-477D-A8C7-128BEE22F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42" y="904462"/>
            <a:ext cx="6887819" cy="5437752"/>
          </a:xfrm>
          <a:prstGeom prst="rect">
            <a:avLst/>
          </a:prstGeom>
        </p:spPr>
      </p:pic>
      <p:sp>
        <p:nvSpPr>
          <p:cNvPr id="5" name="Line 7">
            <a:extLst>
              <a:ext uri="{FF2B5EF4-FFF2-40B4-BE49-F238E27FC236}">
                <a16:creationId xmlns="" xmlns:a16="http://schemas.microsoft.com/office/drawing/2014/main" id="{E7DC1C45-E612-4FC8-AE9D-5C57647A5D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35174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1">
            <a:extLst>
              <a:ext uri="{FF2B5EF4-FFF2-40B4-BE49-F238E27FC236}">
                <a16:creationId xmlns="" xmlns:a16="http://schemas.microsoft.com/office/drawing/2014/main" id="{3DFCBD6F-BDF4-415F-BAF3-BD2BA4491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="" xmlns:a16="http://schemas.microsoft.com/office/drawing/2014/main" id="{DD34A152-793C-4CBF-A84C-87697C2200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08618"/>
            <a:ext cx="8229600" cy="582612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Greedy </a:t>
            </a:r>
            <a:r>
              <a:rPr lang="en-US" sz="32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BestFS</a:t>
            </a: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 - </a:t>
            </a: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Σχόλια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="" xmlns:a16="http://schemas.microsoft.com/office/drawing/2014/main" id="{8662534D-1C76-42B9-B13C-40FFD65B9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650" y="800125"/>
            <a:ext cx="8229600" cy="4962525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l-GR" altLang="el-GR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Πλεονεκτήματα</a:t>
            </a:r>
            <a:r>
              <a:rPr lang="el-GR" altLang="el-GR" sz="2400" dirty="0">
                <a:latin typeface="Georgia" panose="02040502050405020303" pitchFamily="18" charset="0"/>
              </a:rPr>
              <a:t>: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000" dirty="0">
                <a:latin typeface="Georgia" panose="02040502050405020303" pitchFamily="18" charset="0"/>
              </a:rPr>
              <a:t>Συνήθως δίνει μια γρήγορη λύση στο πρόβλημα</a:t>
            </a:r>
          </a:p>
          <a:p>
            <a:pPr lvl="2" eaLnBrk="1" hangingPunct="1">
              <a:lnSpc>
                <a:spcPct val="140000"/>
              </a:lnSpc>
            </a:pPr>
            <a:r>
              <a:rPr lang="el-GR" altLang="el-GR" sz="1800" dirty="0">
                <a:latin typeface="Georgia" panose="02040502050405020303" pitchFamily="18" charset="0"/>
              </a:rPr>
              <a:t>Εξετάζει μικρό μέρος του χώρου αναζήτησης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000" dirty="0">
                <a:solidFill>
                  <a:srgbClr val="009900"/>
                </a:solidFill>
                <a:latin typeface="Georgia" panose="02040502050405020303" pitchFamily="18" charset="0"/>
              </a:rPr>
              <a:t>Δεν είναι πλήρης</a:t>
            </a:r>
          </a:p>
          <a:p>
            <a:pPr eaLnBrk="1" hangingPunct="1">
              <a:lnSpc>
                <a:spcPct val="140000"/>
              </a:lnSpc>
            </a:pPr>
            <a:r>
              <a:rPr lang="el-GR" altLang="el-GR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Μειονεκτήματα</a:t>
            </a:r>
            <a:r>
              <a:rPr lang="el-GR" altLang="el-GR" sz="2400" dirty="0">
                <a:latin typeface="Georgia" panose="02040502050405020303" pitchFamily="18" charset="0"/>
              </a:rPr>
              <a:t>: 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000" dirty="0">
                <a:latin typeface="Georgia" panose="02040502050405020303" pitchFamily="18" charset="0"/>
              </a:rPr>
              <a:t>Το μέτωπο αναζήτησης μεγαλώνει με υψηλό ρυθμό </a:t>
            </a:r>
          </a:p>
          <a:p>
            <a:pPr lvl="2" eaLnBrk="1" hangingPunct="1">
              <a:lnSpc>
                <a:spcPct val="140000"/>
              </a:lnSpc>
            </a:pPr>
            <a:r>
              <a:rPr lang="el-GR" altLang="el-GR" sz="1800" dirty="0">
                <a:latin typeface="Georgia" panose="02040502050405020303" pitchFamily="18" charset="0"/>
              </a:rPr>
              <a:t>Αυξημένες απαιτήσεις σε μνήμη</a:t>
            </a:r>
          </a:p>
          <a:p>
            <a:pPr lvl="2" eaLnBrk="1" hangingPunct="1">
              <a:lnSpc>
                <a:spcPct val="140000"/>
              </a:lnSpc>
            </a:pPr>
            <a:r>
              <a:rPr lang="el-GR" altLang="el-GR" sz="1800" dirty="0">
                <a:latin typeface="Georgia" panose="02040502050405020303" pitchFamily="18" charset="0"/>
              </a:rPr>
              <a:t>Αυξημένες απαιτήσεις σε χρόνο 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000" dirty="0">
                <a:solidFill>
                  <a:srgbClr val="009900"/>
                </a:solidFill>
                <a:latin typeface="Georgia" panose="02040502050405020303" pitchFamily="18" charset="0"/>
              </a:rPr>
              <a:t>Δεν εγγυάται ότι η λύση που θα βρεθεί είναι η βέλτιστη</a:t>
            </a:r>
            <a:endParaRPr lang="en-US" altLang="el-GR" sz="2000" dirty="0">
              <a:solidFill>
                <a:srgbClr val="009900"/>
              </a:solidFill>
              <a:latin typeface="Georgia" panose="02040502050405020303" pitchFamily="18" charset="0"/>
            </a:endParaRPr>
          </a:p>
          <a:p>
            <a:pPr lvl="1" eaLnBrk="1" hangingPunct="1">
              <a:lnSpc>
                <a:spcPct val="140000"/>
              </a:lnSpc>
            </a:pPr>
            <a:r>
              <a:rPr lang="el-GR" altLang="el-GR" sz="2000" dirty="0">
                <a:solidFill>
                  <a:srgbClr val="009900"/>
                </a:solidFill>
                <a:latin typeface="Georgia" panose="02040502050405020303" pitchFamily="18" charset="0"/>
              </a:rPr>
              <a:t>Δεν λαμβάνει υπόψιν την απόσταση που έχει ήδη διανύσει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000" dirty="0">
                <a:latin typeface="Georgia" panose="02040502050405020303" pitchFamily="18" charset="0"/>
              </a:rPr>
              <a:t>Εξαρτάται πολύ από τον ευριστικό μηχανισμό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3139FAAE-1B03-492C-94D7-3689A3B03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6788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00EA7BB3-2526-4C51-B466-04324879A0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="" xmlns:a16="http://schemas.microsoft.com/office/drawing/2014/main" id="{597D7D3E-B496-4962-8588-A0AE00E73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1763"/>
            <a:ext cx="8229600" cy="458780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Το  πρόβλημα του Λαβυρίνθου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124" name="Rectangle 5">
            <a:extLst>
              <a:ext uri="{FF2B5EF4-FFF2-40B4-BE49-F238E27FC236}">
                <a16:creationId xmlns="" xmlns:a16="http://schemas.microsoft.com/office/drawing/2014/main" id="{04A8B138-FA20-4F03-A1B2-EDBD247FD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5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l-GR" altLang="el-GR"/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1456C1A-43CA-45C6-84EA-76ED89B9A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40206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CA05FB66-22CF-466F-B4DD-0E93782D5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78D829C8-A1D9-4BA6-8F71-13A2C09B7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027" y="1290431"/>
            <a:ext cx="5901649" cy="40340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71" name="Rectangle 419">
            <a:extLst>
              <a:ext uri="{FF2B5EF4-FFF2-40B4-BE49-F238E27FC236}">
                <a16:creationId xmlns="" xmlns:a16="http://schemas.microsoft.com/office/drawing/2014/main" id="{7F33F3EF-2AC7-4F0D-B2BD-37DFAFD3B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785225" cy="4841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Greedy </a:t>
            </a:r>
            <a:r>
              <a:rPr lang="en-US" sz="28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BestFS</a:t>
            </a:r>
            <a:r>
              <a:rPr lang="en-US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l-GR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στον λαβύρινθο με </a:t>
            </a:r>
            <a:r>
              <a:rPr lang="en-US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Manhattan</a:t>
            </a:r>
          </a:p>
        </p:txBody>
      </p:sp>
      <p:sp>
        <p:nvSpPr>
          <p:cNvPr id="6" name="Line 7">
            <a:extLst>
              <a:ext uri="{FF2B5EF4-FFF2-40B4-BE49-F238E27FC236}">
                <a16:creationId xmlns="" xmlns:a16="http://schemas.microsoft.com/office/drawing/2014/main" id="{A438D3C0-12F1-4F2D-9773-6D6AE9DF4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65" y="627513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1">
            <a:extLst>
              <a:ext uri="{FF2B5EF4-FFF2-40B4-BE49-F238E27FC236}">
                <a16:creationId xmlns="" xmlns:a16="http://schemas.microsoft.com/office/drawing/2014/main" id="{D6896CAF-B76A-4897-A06F-112FCD650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00250A4-5CD2-4AA6-8AE1-21B7F8621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7" y="928661"/>
            <a:ext cx="8973802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26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71" name="Rectangle 419">
            <a:extLst>
              <a:ext uri="{FF2B5EF4-FFF2-40B4-BE49-F238E27FC236}">
                <a16:creationId xmlns="" xmlns:a16="http://schemas.microsoft.com/office/drawing/2014/main" id="{7F33F3EF-2AC7-4F0D-B2BD-37DFAFD3B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785225" cy="4841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Greedy </a:t>
            </a:r>
            <a:r>
              <a:rPr lang="en-US" sz="28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BestFS</a:t>
            </a:r>
            <a:r>
              <a:rPr lang="en-US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l-GR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στον λαβύρινθο με </a:t>
            </a:r>
            <a:r>
              <a:rPr lang="en-US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Manhattan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1107070-02E8-48CF-BA0D-75C30D64C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65" y="1123949"/>
            <a:ext cx="8973269" cy="4816033"/>
          </a:xfrm>
          <a:prstGeom prst="rect">
            <a:avLst/>
          </a:prstGeom>
        </p:spPr>
      </p:pic>
      <p:sp>
        <p:nvSpPr>
          <p:cNvPr id="6" name="Line 7">
            <a:extLst>
              <a:ext uri="{FF2B5EF4-FFF2-40B4-BE49-F238E27FC236}">
                <a16:creationId xmlns="" xmlns:a16="http://schemas.microsoft.com/office/drawing/2014/main" id="{A438D3C0-12F1-4F2D-9773-6D6AE9DF4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65" y="627513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1">
            <a:extLst>
              <a:ext uri="{FF2B5EF4-FFF2-40B4-BE49-F238E27FC236}">
                <a16:creationId xmlns="" xmlns:a16="http://schemas.microsoft.com/office/drawing/2014/main" id="{D6896CAF-B76A-4897-A06F-112FCD650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177177" y="2951620"/>
            <a:ext cx="12971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 smtClean="0">
                <a:solidFill>
                  <a:srgbClr val="FF0000"/>
                </a:solidFill>
              </a:rPr>
              <a:t>Ήδη ελεγμένο</a:t>
            </a:r>
            <a:endParaRPr lang="el-GR" sz="1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77177" y="3847344"/>
            <a:ext cx="12971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400" dirty="0" smtClean="0">
                <a:solidFill>
                  <a:srgbClr val="FF0000"/>
                </a:solidFill>
              </a:rPr>
              <a:t>Ήδη ελεγμένο</a:t>
            </a:r>
            <a:endParaRPr lang="el-GR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="" xmlns:a16="http://schemas.microsoft.com/office/drawing/2014/main" id="{99D610C1-5029-41A6-B1CE-474111F8B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8229600" cy="490537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Δένδρο Αναζήτησης στο 8-</a:t>
            </a: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Puzzle</a:t>
            </a:r>
          </a:p>
        </p:txBody>
      </p:sp>
      <p:pic>
        <p:nvPicPr>
          <p:cNvPr id="16387" name="Picture 4" descr="imageUON">
            <a:extLst>
              <a:ext uri="{FF2B5EF4-FFF2-40B4-BE49-F238E27FC236}">
                <a16:creationId xmlns="" xmlns:a16="http://schemas.microsoft.com/office/drawing/2014/main" id="{BE0D92C5-2A52-486A-8F38-B8A6001B4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1563"/>
            <a:ext cx="9144000" cy="502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ine 7">
            <a:extLst>
              <a:ext uri="{FF2B5EF4-FFF2-40B4-BE49-F238E27FC236}">
                <a16:creationId xmlns="" xmlns:a16="http://schemas.microsoft.com/office/drawing/2014/main" id="{30D163E7-6D61-42C1-8C32-1D1192B00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7444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FD79A3E7-DC13-470C-A21A-B0BC3C527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="" xmlns:a16="http://schemas.microsoft.com/office/drawing/2014/main" id="{69A959D6-BCB3-4ECD-91F8-BFB6437A6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9375"/>
            <a:ext cx="8229600" cy="50319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Greedy </a:t>
            </a:r>
            <a:r>
              <a:rPr lang="en-US" sz="32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BestFS</a:t>
            </a: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στο 8-</a:t>
            </a: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Puzzle</a:t>
            </a:r>
          </a:p>
        </p:txBody>
      </p:sp>
      <p:pic>
        <p:nvPicPr>
          <p:cNvPr id="17411" name="Picture 4" descr="image3CN">
            <a:extLst>
              <a:ext uri="{FF2B5EF4-FFF2-40B4-BE49-F238E27FC236}">
                <a16:creationId xmlns="" xmlns:a16="http://schemas.microsoft.com/office/drawing/2014/main" id="{7A13DA90-71AE-4E4F-9AD1-2DA3EB28F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969" y="765175"/>
            <a:ext cx="6088062" cy="5776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ine 7">
            <a:extLst>
              <a:ext uri="{FF2B5EF4-FFF2-40B4-BE49-F238E27FC236}">
                <a16:creationId xmlns="" xmlns:a16="http://schemas.microsoft.com/office/drawing/2014/main" id="{B0484E2A-8063-4445-8E9B-EE494B5C6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22703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CD386B81-061B-4EDF-B970-D791D61E34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="" xmlns:a16="http://schemas.microsoft.com/office/drawing/2014/main" id="{CB5E16CA-7DF2-4AC2-9460-4B0F06A45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9051"/>
            <a:ext cx="8229600" cy="514350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Αναρρίχηση Λόφων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="" xmlns:a16="http://schemas.microsoft.com/office/drawing/2014/main" id="{92B68CFE-1B7C-4E8E-82C8-F408F113C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785225" cy="1223962"/>
          </a:xfrm>
        </p:spPr>
        <p:txBody>
          <a:bodyPr/>
          <a:lstStyle/>
          <a:p>
            <a:pPr eaLnBrk="1" hangingPunct="1"/>
            <a:r>
              <a:rPr lang="el-GR" altLang="el-GR" sz="2000" b="1" dirty="0">
                <a:latin typeface="Georgia" panose="02040502050405020303" pitchFamily="18" charset="0"/>
              </a:rPr>
              <a:t>Ο αλγόριθμος</a:t>
            </a:r>
            <a:r>
              <a:rPr lang="el-GR" altLang="el-GR" sz="2000" b="1" i="1" dirty="0">
                <a:latin typeface="Georgia" panose="02040502050405020303" pitchFamily="18" charset="0"/>
              </a:rPr>
              <a:t> αναρρίχησης λόφων </a:t>
            </a:r>
            <a:r>
              <a:rPr lang="el-GR" altLang="el-GR" sz="2000" b="1" dirty="0">
                <a:latin typeface="Georgia" panose="02040502050405020303" pitchFamily="18" charset="0"/>
              </a:rPr>
              <a:t>(</a:t>
            </a:r>
            <a:r>
              <a:rPr lang="en-US" altLang="el-GR" sz="2000" b="1" dirty="0">
                <a:latin typeface="Georgia" panose="02040502050405020303" pitchFamily="18" charset="0"/>
              </a:rPr>
              <a:t>HC</a:t>
            </a:r>
            <a:r>
              <a:rPr lang="el-GR" altLang="el-GR" sz="2000" b="1" dirty="0">
                <a:latin typeface="Georgia" panose="02040502050405020303" pitchFamily="18" charset="0"/>
              </a:rPr>
              <a:t>) επιλέγει προς επέκταση την κατάσταση με την μικρότερη ευριστική τιμή, απορρίπτοντας τις υπόλοιπες από το  μέτωπο αναζήτησης</a:t>
            </a:r>
            <a:endParaRPr lang="el-GR" altLang="el-GR" sz="2000" dirty="0">
              <a:latin typeface="Georgia" panose="02040502050405020303" pitchFamily="18" charset="0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="" xmlns:a16="http://schemas.microsoft.com/office/drawing/2014/main" id="{AAA82C71-9678-449F-A748-D0D9B603D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2060575"/>
            <a:ext cx="8964613" cy="250983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l-GR" altLang="el-GR" b="1" dirty="0">
                <a:solidFill>
                  <a:srgbClr val="000000"/>
                </a:solidFill>
              </a:rPr>
              <a:t>Ο αλγόριθμος </a:t>
            </a:r>
            <a:r>
              <a:rPr lang="en-US" altLang="el-GR" b="1" dirty="0">
                <a:solidFill>
                  <a:srgbClr val="000000"/>
                </a:solidFill>
              </a:rPr>
              <a:t>HC</a:t>
            </a:r>
            <a:r>
              <a:rPr lang="el-GR" altLang="el-GR" b="1" dirty="0">
                <a:solidFill>
                  <a:srgbClr val="000000"/>
                </a:solidFill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1.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Η αρχική κατάσταση είναι η τρέχουσα κατάσταση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2.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η κατάσταση είναι τελική τότε ανέφερε την και σταμάτησε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3. Εφάρμοσε τους τελεστές για να βρεις τις καταστάσεις-παιδιά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4. Βρες την κατάσταση με την μικρότερη ευριστική τιμή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5. Η καλύτερη κατάσταση γίνεται η τρέχουσα κατάσταση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6. Πήγαινε στο βήμα 2.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="" xmlns:a16="http://schemas.microsoft.com/office/drawing/2014/main" id="{8CAE9731-A0D8-4385-8EEA-CDEF0C876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941888"/>
            <a:ext cx="87852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None/>
            </a:pPr>
            <a:r>
              <a:rPr lang="el-GR" altLang="el-GR" sz="2000" b="1" dirty="0">
                <a:solidFill>
                  <a:srgbClr val="FF0000"/>
                </a:solidFill>
                <a:latin typeface="Georgia" panose="02040502050405020303" pitchFamily="18" charset="0"/>
              </a:rPr>
              <a:t>Δεν υπάρχει ανάγκη για μέτωπο αναζήτησης</a:t>
            </a:r>
            <a:endParaRPr lang="el-GR" altLang="el-GR" sz="200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7A9BC203-9D9F-4000-A4CC-A1CF5CF60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FA8158CD-12D1-4443-BD4E-3952D78CF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="" xmlns:a16="http://schemas.microsoft.com/office/drawing/2014/main" id="{0D768130-D29B-41AB-B187-0E85D1C6F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84138"/>
            <a:ext cx="8229600" cy="439737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algorithm HC(Initial, Final)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E5949D8-D723-41B8-90C0-261787AD2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73" y="866774"/>
            <a:ext cx="8161827" cy="5349039"/>
          </a:xfrm>
          <a:prstGeom prst="rect">
            <a:avLst/>
          </a:prstGeom>
        </p:spPr>
      </p:pic>
      <p:sp>
        <p:nvSpPr>
          <p:cNvPr id="5" name="Line 7">
            <a:extLst>
              <a:ext uri="{FF2B5EF4-FFF2-40B4-BE49-F238E27FC236}">
                <a16:creationId xmlns="" xmlns:a16="http://schemas.microsoft.com/office/drawing/2014/main" id="{BD791EB6-E18B-466D-9FF0-C82DD6411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1">
            <a:extLst>
              <a:ext uri="{FF2B5EF4-FFF2-40B4-BE49-F238E27FC236}">
                <a16:creationId xmlns="" xmlns:a16="http://schemas.microsoft.com/office/drawing/2014/main" id="{43204AE0-18FF-4582-83D7-044B92C6D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="" xmlns:a16="http://schemas.microsoft.com/office/drawing/2014/main" id="{5DA356B8-C7AE-466F-9EDF-700ED8A91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0525" y="139700"/>
            <a:ext cx="8229600" cy="592137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HC - </a:t>
            </a: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Σχόλια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="" xmlns:a16="http://schemas.microsoft.com/office/drawing/2014/main" id="{90871A22-8D00-472A-8D36-49A17B908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2925" y="971550"/>
            <a:ext cx="8229600" cy="4525963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l-GR" altLang="el-GR" sz="2800" dirty="0">
                <a:solidFill>
                  <a:srgbClr val="0070C0"/>
                </a:solidFill>
                <a:latin typeface="Georgia" panose="02040502050405020303" pitchFamily="18" charset="0"/>
              </a:rPr>
              <a:t>Πλεονεκτήματα: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400" dirty="0">
                <a:latin typeface="Georgia" panose="02040502050405020303" pitchFamily="18" charset="0"/>
              </a:rPr>
              <a:t>Συνήθως δίνει μια λύση πάρα πολύ γρήγορα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400" dirty="0">
                <a:latin typeface="Georgia" panose="02040502050405020303" pitchFamily="18" charset="0"/>
              </a:rPr>
              <a:t>Έχει ελάχιστες απαιτήσεις σε μνήμη</a:t>
            </a:r>
          </a:p>
          <a:p>
            <a:pPr eaLnBrk="1" hangingPunct="1">
              <a:lnSpc>
                <a:spcPct val="140000"/>
              </a:lnSpc>
            </a:pPr>
            <a:r>
              <a:rPr lang="el-GR" altLang="el-GR" sz="2800" dirty="0">
                <a:solidFill>
                  <a:srgbClr val="0070C0"/>
                </a:solidFill>
                <a:latin typeface="Georgia" panose="02040502050405020303" pitchFamily="18" charset="0"/>
              </a:rPr>
              <a:t>Μειονεκτήματα: 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400" b="1" dirty="0">
                <a:solidFill>
                  <a:srgbClr val="009900"/>
                </a:solidFill>
                <a:latin typeface="Georgia" panose="02040502050405020303" pitchFamily="18" charset="0"/>
              </a:rPr>
              <a:t>Δεν είναι πλήρης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400" dirty="0">
                <a:latin typeface="Georgia" panose="02040502050405020303" pitchFamily="18" charset="0"/>
              </a:rPr>
              <a:t>Δεν εγγυάται ότι η λύση που θα βρεθεί είναι η βέλτιστη</a:t>
            </a:r>
          </a:p>
          <a:p>
            <a:pPr lvl="1" eaLnBrk="1" hangingPunct="1">
              <a:lnSpc>
                <a:spcPct val="140000"/>
              </a:lnSpc>
            </a:pPr>
            <a:r>
              <a:rPr lang="el-GR" altLang="el-GR" sz="2400" dirty="0">
                <a:latin typeface="Georgia" panose="02040502050405020303" pitchFamily="18" charset="0"/>
              </a:rPr>
              <a:t>Εξαρτάται πολύ από τον ευριστικό μηχανισμό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5859BC53-07C6-4F33-8220-D1AE5FC5F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76726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4C44049F-B3C0-4675-A564-B74C1A016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="" xmlns:a16="http://schemas.microsoft.com/office/drawing/2014/main" id="{DD89441F-0853-43CB-8F35-B8ADCC710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6037"/>
            <a:ext cx="8229600" cy="487362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Ακτινωτή Αναζήτηση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="" xmlns:a16="http://schemas.microsoft.com/office/drawing/2014/main" id="{0EEF12E6-5530-40DA-8C8F-6840C0386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" y="656431"/>
            <a:ext cx="8785225" cy="1223963"/>
          </a:xfrm>
        </p:spPr>
        <p:txBody>
          <a:bodyPr/>
          <a:lstStyle/>
          <a:p>
            <a:pPr eaLnBrk="1" hangingPunct="1"/>
            <a:r>
              <a:rPr lang="el-GR" altLang="el-GR" sz="2000" b="1" dirty="0">
                <a:latin typeface="Georgia" panose="02040502050405020303" pitchFamily="18" charset="0"/>
              </a:rPr>
              <a:t>Ο αλγόριθμος</a:t>
            </a:r>
            <a:r>
              <a:rPr lang="el-GR" altLang="el-GR" sz="2000" b="1" i="1" dirty="0">
                <a:latin typeface="Georgia" panose="02040502050405020303" pitchFamily="18" charset="0"/>
              </a:rPr>
              <a:t> ακτινωτής αναζήτησης </a:t>
            </a:r>
            <a:r>
              <a:rPr lang="el-GR" altLang="el-GR" sz="2000" b="1" dirty="0">
                <a:latin typeface="Georgia" panose="02040502050405020303" pitchFamily="18" charset="0"/>
              </a:rPr>
              <a:t>(</a:t>
            </a:r>
            <a:r>
              <a:rPr lang="en-US" altLang="el-GR" sz="2000" b="1" i="1" dirty="0">
                <a:latin typeface="Georgia" panose="02040502050405020303" pitchFamily="18" charset="0"/>
              </a:rPr>
              <a:t>Beam Search</a:t>
            </a:r>
            <a:r>
              <a:rPr lang="el-GR" altLang="el-GR" sz="2000" b="1" dirty="0">
                <a:latin typeface="Georgia" panose="02040502050405020303" pitchFamily="18" charset="0"/>
              </a:rPr>
              <a:t>)</a:t>
            </a:r>
            <a:r>
              <a:rPr lang="en-US" altLang="el-GR" sz="2000" b="1" dirty="0">
                <a:latin typeface="Georgia" panose="02040502050405020303" pitchFamily="18" charset="0"/>
              </a:rPr>
              <a:t> </a:t>
            </a:r>
            <a:r>
              <a:rPr lang="el-GR" altLang="el-GR" sz="2000" b="1" dirty="0">
                <a:latin typeface="Georgia" panose="02040502050405020303" pitchFamily="18" charset="0"/>
              </a:rPr>
              <a:t>αποτελεί έναν υβριδικό αλγόριθμο ανάμεσα σε </a:t>
            </a:r>
            <a:r>
              <a:rPr lang="en-US" altLang="el-GR" sz="2000" b="1" dirty="0">
                <a:latin typeface="Georgia" panose="02040502050405020303" pitchFamily="18" charset="0"/>
              </a:rPr>
              <a:t>HC </a:t>
            </a:r>
            <a:r>
              <a:rPr lang="el-GR" altLang="el-GR" sz="2000" b="1" dirty="0">
                <a:latin typeface="Georgia" panose="02040502050405020303" pitchFamily="18" charset="0"/>
              </a:rPr>
              <a:t>και </a:t>
            </a:r>
            <a:r>
              <a:rPr lang="en-US" altLang="el-GR" sz="2000" b="1" dirty="0" err="1">
                <a:latin typeface="Georgia" panose="02040502050405020303" pitchFamily="18" charset="0"/>
              </a:rPr>
              <a:t>BestFS</a:t>
            </a:r>
            <a:endParaRPr lang="en-US" altLang="el-GR" sz="2000" b="1" dirty="0">
              <a:latin typeface="Georgia" panose="02040502050405020303" pitchFamily="18" charset="0"/>
            </a:endParaRPr>
          </a:p>
          <a:p>
            <a:pPr lvl="1" eaLnBrk="1" hangingPunct="1"/>
            <a:r>
              <a:rPr lang="el-GR" altLang="el-GR" sz="1800" b="1" dirty="0">
                <a:solidFill>
                  <a:srgbClr val="008000"/>
                </a:solidFill>
                <a:latin typeface="Georgia" panose="02040502050405020303" pitchFamily="18" charset="0"/>
              </a:rPr>
              <a:t>Κρατά στο μέτωπο τις </a:t>
            </a:r>
            <a:r>
              <a:rPr lang="en-US" altLang="el-GR" sz="1800" b="1" dirty="0">
                <a:solidFill>
                  <a:srgbClr val="008000"/>
                </a:solidFill>
                <a:latin typeface="Georgia" panose="02040502050405020303" pitchFamily="18" charset="0"/>
              </a:rPr>
              <a:t>N </a:t>
            </a:r>
            <a:r>
              <a:rPr lang="el-GR" altLang="el-GR" sz="1800" b="1" dirty="0">
                <a:solidFill>
                  <a:srgbClr val="008000"/>
                </a:solidFill>
                <a:latin typeface="Georgia" panose="02040502050405020303" pitchFamily="18" charset="0"/>
              </a:rPr>
              <a:t>καλύτερες καταστάσεις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C36B9763-B021-4B4C-8C71-AA5308653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4A6725B1-CB61-4DB1-B17B-9F0D32EA30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71F3FDE-3C86-4453-9C21-CC703F3085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7" y="6600183"/>
            <a:ext cx="1258853" cy="200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7037FCF-8C76-4B3A-9B94-D661ADF2F1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6570663"/>
            <a:ext cx="267328" cy="267328"/>
          </a:xfrm>
          <a:prstGeom prst="rect">
            <a:avLst/>
          </a:prstGeom>
        </p:spPr>
      </p:pic>
      <p:sp>
        <p:nvSpPr>
          <p:cNvPr id="22532" name="Text Box 4">
            <a:extLst>
              <a:ext uri="{FF2B5EF4-FFF2-40B4-BE49-F238E27FC236}">
                <a16:creationId xmlns="" xmlns:a16="http://schemas.microsoft.com/office/drawing/2014/main" id="{7EA77799-001B-4A4C-8085-D4626B2B2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3" y="1773237"/>
            <a:ext cx="9001125" cy="506475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l-GR" altLang="el-GR" b="1" dirty="0">
                <a:solidFill>
                  <a:srgbClr val="000000"/>
                </a:solidFill>
              </a:rPr>
              <a:t>Ο αλγόριθμος </a:t>
            </a:r>
            <a:r>
              <a:rPr lang="en-US" altLang="el-GR" b="1" dirty="0" err="1">
                <a:solidFill>
                  <a:srgbClr val="000000"/>
                </a:solidFill>
              </a:rPr>
              <a:t>BestNFS</a:t>
            </a:r>
            <a:r>
              <a:rPr lang="el-GR" altLang="el-GR" b="1" dirty="0">
                <a:solidFill>
                  <a:srgbClr val="000000"/>
                </a:solidFill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Βάλε την αρχική κατάσταση στο μέτωπο της αναζήτησης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2.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το μέτωπο της αναζήτησης είναι κενό τότε σταμάτησε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3.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Βγάλε την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l-GR" altLang="el-GR" b="1" baseline="30000" dirty="0">
                <a:solidFill>
                  <a:srgbClr val="000000"/>
                </a:solidFill>
                <a:latin typeface="Courier New" panose="02070309020205020404" pitchFamily="49" charset="0"/>
              </a:rPr>
              <a:t>η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 κατάσταση από το μέτωπο της αναζήτησης, έστω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S</a:t>
            </a:r>
            <a:endParaRPr lang="el-GR" altLang="el-GR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4.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η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ανήκει στο κλειστό σύνολο τότε πήγαινε στο βήμα 2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5.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η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είναι μία από τις τελικές, τότε ανέφερε τη λύση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6.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Αν θέλεις άλλες λύσεις πήγαινε στο βήμα 2 αλλιώς σταμάτησε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7.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Εφάρμοσε τους τελεστές για να βρεις τις καταστάσεις-παιδιά</a:t>
            </a:r>
            <a:endParaRPr lang="en-US" altLang="el-GR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8.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Εφάρμοσε την ευριστική συνάρτηση σε κάθε παιδί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Βάλε τα παιδιά στο μετώπο αναζήτησης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10. Ταξινόμησε το μέτωπο με αύξουσα σειρά ευριστικών τιμών</a:t>
            </a: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11.</a:t>
            </a:r>
            <a:r>
              <a:rPr lang="el-GR" altLang="el-GR" b="1" dirty="0">
                <a:solidFill>
                  <a:srgbClr val="FF0000"/>
                </a:solidFill>
                <a:latin typeface="Courier New" panose="02070309020205020404" pitchFamily="49" charset="0"/>
              </a:rPr>
              <a:t>Αν </a:t>
            </a:r>
            <a:r>
              <a:rPr lang="el-GR" altLang="el-GR" b="1" dirty="0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</a:t>
            </a:r>
            <a:r>
              <a:rPr lang="el-GR" altLang="el-GR" b="1" dirty="0">
                <a:solidFill>
                  <a:srgbClr val="FF0000"/>
                </a:solidFill>
                <a:latin typeface="Courier New" panose="02070309020205020404" pitchFamily="49" charset="0"/>
              </a:rPr>
              <a:t>μέτωπο</a:t>
            </a:r>
            <a:r>
              <a:rPr lang="el-GR" altLang="el-GR" b="1" dirty="0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&gt;</a:t>
            </a:r>
            <a:r>
              <a:rPr lang="en-US" altLang="el-GR" b="1" dirty="0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 </a:t>
            </a:r>
            <a:r>
              <a:rPr lang="el-GR" altLang="el-GR" b="1" dirty="0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πέταξε τις </a:t>
            </a:r>
            <a:r>
              <a:rPr lang="en-US" altLang="el-GR" b="1" dirty="0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N-</a:t>
            </a:r>
            <a:r>
              <a:rPr lang="el-GR" altLang="el-GR" b="1" dirty="0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</a:t>
            </a:r>
            <a:r>
              <a:rPr lang="el-GR" altLang="el-GR" b="1" dirty="0">
                <a:solidFill>
                  <a:srgbClr val="FF0000"/>
                </a:solidFill>
                <a:latin typeface="Courier New" panose="02070309020205020404" pitchFamily="49" charset="0"/>
              </a:rPr>
              <a:t>μέτωπο</a:t>
            </a:r>
            <a:r>
              <a:rPr lang="el-GR" altLang="el-GR" b="1" dirty="0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χειρότερες καταστάσεις</a:t>
            </a:r>
            <a:endParaRPr lang="el-GR" altLang="el-GR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30000"/>
              </a:lnSpc>
            </a:pP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12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Βάλε την 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στο κλειστό σύνολο</a:t>
            </a:r>
          </a:p>
          <a:p>
            <a:pPr>
              <a:lnSpc>
                <a:spcPct val="130000"/>
              </a:lnSpc>
            </a:pP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  <a:r>
              <a:rPr lang="en-US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l-GR" altLang="el-GR" b="1" dirty="0">
                <a:solidFill>
                  <a:srgbClr val="000000"/>
                </a:solidFill>
                <a:latin typeface="Courier New" panose="02070309020205020404" pitchFamily="49" charset="0"/>
              </a:rPr>
              <a:t>Πήγαινε στο βήμα 2</a:t>
            </a:r>
            <a:endParaRPr lang="en-US" altLang="el-GR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="" xmlns:a16="http://schemas.microsoft.com/office/drawing/2014/main" id="{A794E0CC-EE93-4CC5-9C10-5868DFDB5D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841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algorithm Best-N-first(Initial, Final)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3113DA7-1AF8-4B0D-BD2F-96ACE9C74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791805"/>
            <a:ext cx="6572250" cy="5553672"/>
          </a:xfrm>
          <a:prstGeom prst="rect">
            <a:avLst/>
          </a:prstGeom>
        </p:spPr>
      </p:pic>
      <p:sp>
        <p:nvSpPr>
          <p:cNvPr id="5" name="Line 7">
            <a:extLst>
              <a:ext uri="{FF2B5EF4-FFF2-40B4-BE49-F238E27FC236}">
                <a16:creationId xmlns="" xmlns:a16="http://schemas.microsoft.com/office/drawing/2014/main" id="{5BCC5F1E-30CE-4EF6-BB3A-ED14B71C5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32" y="673551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1">
            <a:extLst>
              <a:ext uri="{FF2B5EF4-FFF2-40B4-BE49-F238E27FC236}">
                <a16:creationId xmlns="" xmlns:a16="http://schemas.microsoft.com/office/drawing/2014/main" id="{516012D9-9401-47CE-B4C8-1F3D1E200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="" xmlns:a16="http://schemas.microsoft.com/office/drawing/2014/main" id="{0E4AB671-6F88-42FF-BC65-396024E49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942" y="132518"/>
            <a:ext cx="8229600" cy="368643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Άσκηση 1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="" xmlns:a16="http://schemas.microsoft.com/office/drawing/2014/main" id="{8B060B02-72B0-4091-AC14-D77890C774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9" y="836614"/>
            <a:ext cx="4788014" cy="5726112"/>
          </a:xfrm>
        </p:spPr>
        <p:txBody>
          <a:bodyPr/>
          <a:lstStyle/>
          <a:p>
            <a:pPr eaLnBrk="1" hangingPunct="1"/>
            <a:r>
              <a:rPr lang="el-GR" altLang="el-GR" sz="2000" i="1" dirty="0">
                <a:latin typeface="Georgia" panose="02040502050405020303" pitchFamily="18" charset="0"/>
              </a:rPr>
              <a:t>Στο διπλανό σχήμα παρουσιάζεται ένα δένδρο αναζήτησης, όπου ο αριθμός μέσα σε αγκύλες δίπλα σε κάθε κόμβο αντιστοιχεί στην τιμή μιας ευριστικής συνάρτησης για αυτόν. Οι κόμβοι που έχουν τιμή 0, είναι οι τερματικοί κόμβοι της αναζήτησης.</a:t>
            </a:r>
          </a:p>
          <a:p>
            <a:pPr eaLnBrk="1" hangingPunct="1"/>
            <a:r>
              <a:rPr lang="el-GR" altLang="el-GR" sz="2000" i="1" dirty="0">
                <a:latin typeface="Georgia" panose="02040502050405020303" pitchFamily="18" charset="0"/>
              </a:rPr>
              <a:t>Γράψτε την σειρά με την οποία θα εξεταστούν οι κόμβοι του δέντρου (π.χ. a,b,c,…) μέχρι να βρεθεί τερματική κατάσταση από τους ακόλουθους αλγορίθμους:</a:t>
            </a:r>
          </a:p>
          <a:p>
            <a:pPr lvl="1" eaLnBrk="1" hangingPunct="1"/>
            <a:r>
              <a:rPr lang="el-GR" altLang="el-GR" sz="1800" i="1" dirty="0">
                <a:latin typeface="Georgia" panose="02040502050405020303" pitchFamily="18" charset="0"/>
              </a:rPr>
              <a:t>HC</a:t>
            </a:r>
          </a:p>
          <a:p>
            <a:pPr lvl="1" eaLnBrk="1" hangingPunct="1"/>
            <a:r>
              <a:rPr lang="en-US" altLang="el-GR" sz="1800" i="1" dirty="0">
                <a:latin typeface="Georgia" panose="02040502050405020303" pitchFamily="18" charset="0"/>
              </a:rPr>
              <a:t>Greedy </a:t>
            </a:r>
            <a:r>
              <a:rPr lang="el-GR" altLang="el-GR" sz="1800" i="1" dirty="0">
                <a:latin typeface="Georgia" panose="02040502050405020303" pitchFamily="18" charset="0"/>
              </a:rPr>
              <a:t>Best FS</a:t>
            </a:r>
            <a:endParaRPr lang="en-US" altLang="el-GR" sz="1800" i="1" dirty="0">
              <a:latin typeface="Georgia" panose="02040502050405020303" pitchFamily="18" charset="0"/>
            </a:endParaRPr>
          </a:p>
        </p:txBody>
      </p:sp>
      <p:grpSp>
        <p:nvGrpSpPr>
          <p:cNvPr id="24580" name="Group 4">
            <a:extLst>
              <a:ext uri="{FF2B5EF4-FFF2-40B4-BE49-F238E27FC236}">
                <a16:creationId xmlns="" xmlns:a16="http://schemas.microsoft.com/office/drawing/2014/main" id="{D2B59887-8F5C-4287-A28F-02FE777A621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59338" y="1066800"/>
            <a:ext cx="4216400" cy="2930525"/>
            <a:chOff x="3717" y="5879"/>
            <a:chExt cx="4448" cy="3093"/>
          </a:xfrm>
        </p:grpSpPr>
        <p:sp>
          <p:nvSpPr>
            <p:cNvPr id="24581" name="AutoShape 5">
              <a:extLst>
                <a:ext uri="{FF2B5EF4-FFF2-40B4-BE49-F238E27FC236}">
                  <a16:creationId xmlns="" xmlns:a16="http://schemas.microsoft.com/office/drawing/2014/main" id="{56305C0A-2EFB-4BDF-97AF-914E9F7C9A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17" y="5879"/>
              <a:ext cx="4448" cy="3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el-GR" altLang="el-GR"/>
            </a:p>
          </p:txBody>
        </p:sp>
        <p:sp>
          <p:nvSpPr>
            <p:cNvPr id="24582" name="Oval 6">
              <a:extLst>
                <a:ext uri="{FF2B5EF4-FFF2-40B4-BE49-F238E27FC236}">
                  <a16:creationId xmlns="" xmlns:a16="http://schemas.microsoft.com/office/drawing/2014/main" id="{6A25613E-0716-4A88-BB96-40CC48011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4" y="6147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583" name="Oval 7">
              <a:extLst>
                <a:ext uri="{FF2B5EF4-FFF2-40B4-BE49-F238E27FC236}">
                  <a16:creationId xmlns="" xmlns:a16="http://schemas.microsoft.com/office/drawing/2014/main" id="{7B34CEA4-9CCC-4BE5-B864-968A509B2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6690"/>
              <a:ext cx="361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584" name="Oval 8">
              <a:extLst>
                <a:ext uri="{FF2B5EF4-FFF2-40B4-BE49-F238E27FC236}">
                  <a16:creationId xmlns="" xmlns:a16="http://schemas.microsoft.com/office/drawing/2014/main" id="{6E5C9D6E-F5AD-4BF6-A7BF-FAEE6329E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" y="6687"/>
              <a:ext cx="360" cy="36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585" name="Oval 9">
              <a:extLst>
                <a:ext uri="{FF2B5EF4-FFF2-40B4-BE49-F238E27FC236}">
                  <a16:creationId xmlns="" xmlns:a16="http://schemas.microsoft.com/office/drawing/2014/main" id="{453C66D8-146C-4334-B165-FFF0B3E93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7230"/>
              <a:ext cx="361" cy="36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586" name="Oval 10">
              <a:extLst>
                <a:ext uri="{FF2B5EF4-FFF2-40B4-BE49-F238E27FC236}">
                  <a16:creationId xmlns="" xmlns:a16="http://schemas.microsoft.com/office/drawing/2014/main" id="{4BE20B09-8029-432E-9E14-81818ECC4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6" y="7230"/>
              <a:ext cx="361" cy="36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h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587" name="Oval 11">
              <a:extLst>
                <a:ext uri="{FF2B5EF4-FFF2-40B4-BE49-F238E27FC236}">
                  <a16:creationId xmlns="" xmlns:a16="http://schemas.microsoft.com/office/drawing/2014/main" id="{CCCBC789-FFE9-4BB8-A63E-3B6EDA5CD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2" y="7827"/>
              <a:ext cx="360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588" name="Oval 12">
              <a:extLst>
                <a:ext uri="{FF2B5EF4-FFF2-40B4-BE49-F238E27FC236}">
                  <a16:creationId xmlns="" xmlns:a16="http://schemas.microsoft.com/office/drawing/2014/main" id="{A60590A8-CA83-48BE-BE4A-1CF3B9C87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8" y="7230"/>
              <a:ext cx="360" cy="36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g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589" name="Oval 13">
              <a:extLst>
                <a:ext uri="{FF2B5EF4-FFF2-40B4-BE49-F238E27FC236}">
                  <a16:creationId xmlns="" xmlns:a16="http://schemas.microsoft.com/office/drawing/2014/main" id="{04BD9321-3430-4DAB-8FF2-E1C71307F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7827"/>
              <a:ext cx="361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590" name="Oval 14">
              <a:extLst>
                <a:ext uri="{FF2B5EF4-FFF2-40B4-BE49-F238E27FC236}">
                  <a16:creationId xmlns="" xmlns:a16="http://schemas.microsoft.com/office/drawing/2014/main" id="{89A77A59-5B24-47F7-A69A-DC147397D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" y="7228"/>
              <a:ext cx="361" cy="35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cxnSp>
          <p:nvCxnSpPr>
            <p:cNvPr id="24591" name="AutoShape 15">
              <a:extLst>
                <a:ext uri="{FF2B5EF4-FFF2-40B4-BE49-F238E27FC236}">
                  <a16:creationId xmlns="" xmlns:a16="http://schemas.microsoft.com/office/drawing/2014/main" id="{999D2501-B4D7-4963-AE26-17F38A5AACC8}"/>
                </a:ext>
              </a:extLst>
            </p:cNvPr>
            <p:cNvCxnSpPr>
              <a:cxnSpLocks noChangeShapeType="1"/>
              <a:stCxn id="24582" idx="4"/>
              <a:endCxn id="24583" idx="7"/>
            </p:cNvCxnSpPr>
            <p:nvPr/>
          </p:nvCxnSpPr>
          <p:spPr bwMode="auto">
            <a:xfrm flipH="1">
              <a:off x="5141" y="6507"/>
              <a:ext cx="863" cy="2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2" name="AutoShape 16">
              <a:extLst>
                <a:ext uri="{FF2B5EF4-FFF2-40B4-BE49-F238E27FC236}">
                  <a16:creationId xmlns="" xmlns:a16="http://schemas.microsoft.com/office/drawing/2014/main" id="{7CE15B6E-C56C-4CBA-AF6D-28AAD2E667C2}"/>
                </a:ext>
              </a:extLst>
            </p:cNvPr>
            <p:cNvCxnSpPr>
              <a:cxnSpLocks noChangeShapeType="1"/>
              <a:stCxn id="24582" idx="4"/>
              <a:endCxn id="24584" idx="1"/>
            </p:cNvCxnSpPr>
            <p:nvPr/>
          </p:nvCxnSpPr>
          <p:spPr bwMode="auto">
            <a:xfrm>
              <a:off x="6004" y="6507"/>
              <a:ext cx="958" cy="2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3" name="AutoShape 17">
              <a:extLst>
                <a:ext uri="{FF2B5EF4-FFF2-40B4-BE49-F238E27FC236}">
                  <a16:creationId xmlns="" xmlns:a16="http://schemas.microsoft.com/office/drawing/2014/main" id="{88E8308D-6106-4BDC-B9CB-AE92EAD06EFF}"/>
                </a:ext>
              </a:extLst>
            </p:cNvPr>
            <p:cNvCxnSpPr>
              <a:cxnSpLocks noChangeShapeType="1"/>
              <a:stCxn id="24583" idx="3"/>
              <a:endCxn id="24585" idx="0"/>
            </p:cNvCxnSpPr>
            <p:nvPr/>
          </p:nvCxnSpPr>
          <p:spPr bwMode="auto">
            <a:xfrm flipH="1">
              <a:off x="4475" y="6997"/>
              <a:ext cx="411" cy="2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4" name="AutoShape 18">
              <a:extLst>
                <a:ext uri="{FF2B5EF4-FFF2-40B4-BE49-F238E27FC236}">
                  <a16:creationId xmlns="" xmlns:a16="http://schemas.microsoft.com/office/drawing/2014/main" id="{82529DF5-5E4E-4AAA-AD44-58029B0F55E2}"/>
                </a:ext>
              </a:extLst>
            </p:cNvPr>
            <p:cNvCxnSpPr>
              <a:cxnSpLocks noChangeShapeType="1"/>
              <a:stCxn id="24583" idx="4"/>
              <a:endCxn id="24590" idx="1"/>
            </p:cNvCxnSpPr>
            <p:nvPr/>
          </p:nvCxnSpPr>
          <p:spPr bwMode="auto">
            <a:xfrm>
              <a:off x="5014" y="7050"/>
              <a:ext cx="144" cy="2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5" name="AutoShape 19">
              <a:extLst>
                <a:ext uri="{FF2B5EF4-FFF2-40B4-BE49-F238E27FC236}">
                  <a16:creationId xmlns="" xmlns:a16="http://schemas.microsoft.com/office/drawing/2014/main" id="{37DC390C-95FF-4684-A13E-6DA24FA12FF7}"/>
                </a:ext>
              </a:extLst>
            </p:cNvPr>
            <p:cNvCxnSpPr>
              <a:cxnSpLocks noChangeShapeType="1"/>
              <a:stCxn id="24584" idx="4"/>
              <a:endCxn id="24588" idx="0"/>
            </p:cNvCxnSpPr>
            <p:nvPr/>
          </p:nvCxnSpPr>
          <p:spPr bwMode="auto">
            <a:xfrm flipH="1">
              <a:off x="6878" y="7048"/>
              <a:ext cx="211" cy="1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6" name="AutoShape 20">
              <a:extLst>
                <a:ext uri="{FF2B5EF4-FFF2-40B4-BE49-F238E27FC236}">
                  <a16:creationId xmlns="" xmlns:a16="http://schemas.microsoft.com/office/drawing/2014/main" id="{86C0FA7B-4EE7-4F5E-A8DB-7A4D0FC366B5}"/>
                </a:ext>
              </a:extLst>
            </p:cNvPr>
            <p:cNvCxnSpPr>
              <a:cxnSpLocks noChangeShapeType="1"/>
              <a:stCxn id="24584" idx="4"/>
              <a:endCxn id="24586" idx="0"/>
            </p:cNvCxnSpPr>
            <p:nvPr/>
          </p:nvCxnSpPr>
          <p:spPr bwMode="auto">
            <a:xfrm>
              <a:off x="7089" y="7048"/>
              <a:ext cx="548" cy="1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7" name="AutoShape 21">
              <a:extLst>
                <a:ext uri="{FF2B5EF4-FFF2-40B4-BE49-F238E27FC236}">
                  <a16:creationId xmlns="" xmlns:a16="http://schemas.microsoft.com/office/drawing/2014/main" id="{6F6A2455-AB32-498C-8BE1-6B459269CD69}"/>
                </a:ext>
              </a:extLst>
            </p:cNvPr>
            <p:cNvCxnSpPr>
              <a:cxnSpLocks noChangeShapeType="1"/>
              <a:stCxn id="24590" idx="4"/>
              <a:endCxn id="24589" idx="0"/>
            </p:cNvCxnSpPr>
            <p:nvPr/>
          </p:nvCxnSpPr>
          <p:spPr bwMode="auto">
            <a:xfrm flipH="1">
              <a:off x="5014" y="7587"/>
              <a:ext cx="272" cy="2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8" name="AutoShape 22">
              <a:extLst>
                <a:ext uri="{FF2B5EF4-FFF2-40B4-BE49-F238E27FC236}">
                  <a16:creationId xmlns="" xmlns:a16="http://schemas.microsoft.com/office/drawing/2014/main" id="{56DAAEA0-A0F0-4000-89C0-66956A892682}"/>
                </a:ext>
              </a:extLst>
            </p:cNvPr>
            <p:cNvCxnSpPr>
              <a:cxnSpLocks noChangeShapeType="1"/>
              <a:stCxn id="24588" idx="4"/>
              <a:endCxn id="24587" idx="0"/>
            </p:cNvCxnSpPr>
            <p:nvPr/>
          </p:nvCxnSpPr>
          <p:spPr bwMode="auto">
            <a:xfrm flipH="1">
              <a:off x="6872" y="7591"/>
              <a:ext cx="6" cy="2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9" name="Text Box 23">
              <a:extLst>
                <a:ext uri="{FF2B5EF4-FFF2-40B4-BE49-F238E27FC236}">
                  <a16:creationId xmlns="" xmlns:a16="http://schemas.microsoft.com/office/drawing/2014/main" id="{ABB35495-D34D-4E98-9F56-7A0A158C6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4" y="5879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[10]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0" name="Text Box 24">
              <a:extLst>
                <a:ext uri="{FF2B5EF4-FFF2-40B4-BE49-F238E27FC236}">
                  <a16:creationId xmlns="" xmlns:a16="http://schemas.microsoft.com/office/drawing/2014/main" id="{19924F95-9DEB-45F0-8FBA-DC40161FA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" y="6599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[8]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1" name="Text Box 25">
              <a:extLst>
                <a:ext uri="{FF2B5EF4-FFF2-40B4-BE49-F238E27FC236}">
                  <a16:creationId xmlns="" xmlns:a16="http://schemas.microsoft.com/office/drawing/2014/main" id="{8125A7BA-2506-4CB1-B108-F167933DB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9" y="6599"/>
              <a:ext cx="338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[10]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2" name="Text Box 26">
              <a:extLst>
                <a:ext uri="{FF2B5EF4-FFF2-40B4-BE49-F238E27FC236}">
                  <a16:creationId xmlns="" xmlns:a16="http://schemas.microsoft.com/office/drawing/2014/main" id="{A2FAE0BA-9318-485F-954F-C46289FDA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3" y="7393"/>
              <a:ext cx="37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[6]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3" name="Text Box 27">
              <a:extLst>
                <a:ext uri="{FF2B5EF4-FFF2-40B4-BE49-F238E27FC236}">
                  <a16:creationId xmlns="" xmlns:a16="http://schemas.microsoft.com/office/drawing/2014/main" id="{A08EFA6D-46FB-4A88-91D7-C3DB52F23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" y="7297"/>
              <a:ext cx="35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[12]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4" name="Text Box 28">
              <a:extLst>
                <a:ext uri="{FF2B5EF4-FFF2-40B4-BE49-F238E27FC236}">
                  <a16:creationId xmlns="" xmlns:a16="http://schemas.microsoft.com/office/drawing/2014/main" id="{BF20C885-BE7D-4D1C-9443-706E71488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5" y="7287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[4]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5" name="Text Box 29">
              <a:extLst>
                <a:ext uri="{FF2B5EF4-FFF2-40B4-BE49-F238E27FC236}">
                  <a16:creationId xmlns="" xmlns:a16="http://schemas.microsoft.com/office/drawing/2014/main" id="{840C4828-A608-48B6-BEEA-A75AE48AC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7" y="7827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[0]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6" name="Text Box 30">
              <a:extLst>
                <a:ext uri="{FF2B5EF4-FFF2-40B4-BE49-F238E27FC236}">
                  <a16:creationId xmlns="" xmlns:a16="http://schemas.microsoft.com/office/drawing/2014/main" id="{08ED232A-04BB-439D-A019-50FD78B56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7" y="7881"/>
              <a:ext cx="540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[9]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7" name="Oval 31">
              <a:extLst>
                <a:ext uri="{FF2B5EF4-FFF2-40B4-BE49-F238E27FC236}">
                  <a16:creationId xmlns="" xmlns:a16="http://schemas.microsoft.com/office/drawing/2014/main" id="{7D48854A-F34E-406A-8B9F-67A00257F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3" y="6747"/>
              <a:ext cx="361" cy="3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08" name="Text Box 32">
              <a:extLst>
                <a:ext uri="{FF2B5EF4-FFF2-40B4-BE49-F238E27FC236}">
                  <a16:creationId xmlns="" xmlns:a16="http://schemas.microsoft.com/office/drawing/2014/main" id="{6948FBAF-950E-4331-B764-D07DE560A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1" y="6842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[6]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cxnSp>
          <p:nvCxnSpPr>
            <p:cNvPr id="24609" name="AutoShape 33">
              <a:extLst>
                <a:ext uri="{FF2B5EF4-FFF2-40B4-BE49-F238E27FC236}">
                  <a16:creationId xmlns="" xmlns:a16="http://schemas.microsoft.com/office/drawing/2014/main" id="{14C31132-16F1-4005-BB9E-2CB300CDEB5C}"/>
                </a:ext>
              </a:extLst>
            </p:cNvPr>
            <p:cNvCxnSpPr>
              <a:cxnSpLocks noChangeShapeType="1"/>
              <a:stCxn id="24582" idx="4"/>
              <a:endCxn id="24607" idx="0"/>
            </p:cNvCxnSpPr>
            <p:nvPr/>
          </p:nvCxnSpPr>
          <p:spPr bwMode="auto">
            <a:xfrm>
              <a:off x="6004" y="6507"/>
              <a:ext cx="1" cy="2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10" name="Oval 34">
              <a:extLst>
                <a:ext uri="{FF2B5EF4-FFF2-40B4-BE49-F238E27FC236}">
                  <a16:creationId xmlns="" xmlns:a16="http://schemas.microsoft.com/office/drawing/2014/main" id="{53FD183A-8564-424D-BA66-FA2A9FD1D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" y="8611"/>
              <a:ext cx="361" cy="36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16097" rIns="0" bIns="16097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el-GR" sz="1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cxnSp>
          <p:nvCxnSpPr>
            <p:cNvPr id="24611" name="AutoShape 35">
              <a:extLst>
                <a:ext uri="{FF2B5EF4-FFF2-40B4-BE49-F238E27FC236}">
                  <a16:creationId xmlns="" xmlns:a16="http://schemas.microsoft.com/office/drawing/2014/main" id="{73129B17-1E95-4375-89FD-41AACBC2230E}"/>
                </a:ext>
              </a:extLst>
            </p:cNvPr>
            <p:cNvCxnSpPr>
              <a:cxnSpLocks noChangeShapeType="1"/>
              <a:stCxn id="24587" idx="4"/>
              <a:endCxn id="24610" idx="0"/>
            </p:cNvCxnSpPr>
            <p:nvPr/>
          </p:nvCxnSpPr>
          <p:spPr bwMode="auto">
            <a:xfrm>
              <a:off x="6872" y="8187"/>
              <a:ext cx="40" cy="4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612" name="Text Box 36">
              <a:extLst>
                <a:ext uri="{FF2B5EF4-FFF2-40B4-BE49-F238E27FC236}">
                  <a16:creationId xmlns="" xmlns:a16="http://schemas.microsoft.com/office/drawing/2014/main" id="{9D8D4C0E-99C0-4EFB-8379-23A30B906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" y="8611"/>
              <a:ext cx="54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[0]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  <p:sp>
          <p:nvSpPr>
            <p:cNvPr id="24613" name="Text Box 37">
              <a:extLst>
                <a:ext uri="{FF2B5EF4-FFF2-40B4-BE49-F238E27FC236}">
                  <a16:creationId xmlns="" xmlns:a16="http://schemas.microsoft.com/office/drawing/2014/main" id="{89ADFD8D-8359-49DE-9A63-FBBACB7C3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7" y="7319"/>
              <a:ext cx="348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el-GR" sz="1500">
                  <a:solidFill>
                    <a:srgbClr val="000000"/>
                  </a:solidFill>
                  <a:latin typeface="Times New Roman" panose="02020603050405020304" pitchFamily="18" charset="0"/>
                </a:rPr>
                <a:t>[10]</a:t>
              </a:r>
              <a:endParaRPr lang="en-US" altLang="el-GR">
                <a:solidFill>
                  <a:srgbClr val="000000"/>
                </a:solidFill>
              </a:endParaRPr>
            </a:p>
          </p:txBody>
        </p:sp>
      </p:grpSp>
      <p:sp>
        <p:nvSpPr>
          <p:cNvPr id="2" name="Line 7">
            <a:extLst>
              <a:ext uri="{FF2B5EF4-FFF2-40B4-BE49-F238E27FC236}">
                <a16:creationId xmlns="" xmlns:a16="http://schemas.microsoft.com/office/drawing/2014/main" id="{4BF3E5F2-F9A9-4E75-A5E7-4D23C31B4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9692A7CC-18FE-433A-857F-B290F7C24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="" xmlns:a16="http://schemas.microsoft.com/office/drawing/2014/main" id="{04D79F41-05F3-404B-879E-0DDE1B87E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4662" y="74613"/>
            <a:ext cx="8229600" cy="490537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Άσκηση </a:t>
            </a:r>
            <a:r>
              <a:rPr lang="en-US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2</a:t>
            </a:r>
          </a:p>
        </p:txBody>
      </p:sp>
      <p:pic>
        <p:nvPicPr>
          <p:cNvPr id="25603" name="Picture 57">
            <a:extLst>
              <a:ext uri="{FF2B5EF4-FFF2-40B4-BE49-F238E27FC236}">
                <a16:creationId xmlns="" xmlns:a16="http://schemas.microsoft.com/office/drawing/2014/main" id="{08FE45A0-C54A-4747-983D-C0BAB78C0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815414"/>
            <a:ext cx="7553325" cy="522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Line 7">
            <a:extLst>
              <a:ext uri="{FF2B5EF4-FFF2-40B4-BE49-F238E27FC236}">
                <a16:creationId xmlns="" xmlns:a16="http://schemas.microsoft.com/office/drawing/2014/main" id="{3267C418-081C-4F24-81DE-4D077DFDD4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645023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D304D2C9-FFA1-4F50-A04C-393FF703E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="" xmlns:a16="http://schemas.microsoft.com/office/drawing/2014/main" id="{5DA356B8-C7AE-466F-9EDF-700ED8A91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0525" y="139701"/>
            <a:ext cx="8229600" cy="470088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Α*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5859BC53-07C6-4F33-8220-D1AE5FC5F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72916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4C44049F-B3C0-4675-A564-B74C1A016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553AF0-5230-4076-A1EB-6DDCDAF0D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81688"/>
            <a:ext cx="8686800" cy="541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4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="" xmlns:a16="http://schemas.microsoft.com/office/drawing/2014/main" id="{5DA356B8-C7AE-466F-9EDF-700ED8A91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0525" y="139701"/>
            <a:ext cx="8229600" cy="470088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Α*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5859BC53-07C6-4F33-8220-D1AE5FC5F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72916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4C44049F-B3C0-4675-A564-B74C1A016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283AAFC-8B0F-495E-90E2-8C2DEF2FA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7" y="1198295"/>
            <a:ext cx="8680293" cy="413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06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="" xmlns:a16="http://schemas.microsoft.com/office/drawing/2014/main" id="{5DA356B8-C7AE-466F-9EDF-700ED8A91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0525" y="139701"/>
            <a:ext cx="8229600" cy="470088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Α*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5859BC53-07C6-4F33-8220-D1AE5FC5F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72916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4C44049F-B3C0-4675-A564-B74C1A016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A979D93-4740-482E-ACBD-59FB880F1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04" y="947363"/>
            <a:ext cx="8690158" cy="51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81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="" xmlns:a16="http://schemas.microsoft.com/office/drawing/2014/main" id="{5DA356B8-C7AE-466F-9EDF-700ED8A91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0525" y="139701"/>
            <a:ext cx="8229600" cy="470088"/>
          </a:xfrm>
        </p:spPr>
        <p:txBody>
          <a:bodyPr/>
          <a:lstStyle/>
          <a:p>
            <a:pPr eaLnBrk="1" hangingPunct="1">
              <a:defRPr/>
            </a:pPr>
            <a:r>
              <a:rPr lang="el-GR" sz="32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Α*, παράδειγμα</a:t>
            </a:r>
            <a:endParaRPr lang="en-US" sz="32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5859BC53-07C6-4F33-8220-D1AE5FC5F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72916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4C44049F-B3C0-4675-A564-B74C1A016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1026869"/>
            <a:ext cx="76947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https://www.youtube.com/watch?v=7W7WpCQSOD8</a:t>
            </a:r>
            <a:endParaRPr lang="el-G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32574"/>
            <a:ext cx="2560576" cy="337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85" y="1668402"/>
            <a:ext cx="2398448" cy="3395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1868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="" xmlns:a16="http://schemas.microsoft.com/office/drawing/2014/main" id="{72EB2DE3-4A37-425C-A97A-67851F686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28663"/>
          </a:xfrm>
        </p:spPr>
        <p:txBody>
          <a:bodyPr/>
          <a:lstStyle/>
          <a:p>
            <a:pPr eaLnBrk="1" hangingPunct="1"/>
            <a:r>
              <a:rPr lang="el-GR" altLang="el-GR" sz="28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Πηγές</a:t>
            </a:r>
            <a:endParaRPr lang="en-US" altLang="el-GR" sz="28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="" xmlns:a16="http://schemas.microsoft.com/office/drawing/2014/main" id="{C5228D85-B5DA-452A-AFCD-382721C6A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10600" cy="4953000"/>
          </a:xfrm>
        </p:spPr>
        <p:txBody>
          <a:bodyPr/>
          <a:lstStyle/>
          <a:p>
            <a:pPr marL="914400" lvl="2" indent="0" eaLnBrk="1" hangingPunct="1">
              <a:buFontTx/>
              <a:buNone/>
            </a:pPr>
            <a:endParaRPr lang="el-GR" altLang="el-GR" sz="2000" b="1" dirty="0"/>
          </a:p>
          <a:p>
            <a:pPr lvl="1" eaLnBrk="1" hangingPunct="1">
              <a:buClr>
                <a:srgbClr val="0070C0"/>
              </a:buClr>
              <a:buSzPct val="186000"/>
              <a:buFont typeface="Wingdings" panose="05000000000000000000" pitchFamily="2" charset="2"/>
              <a:buChar char="§"/>
            </a:pPr>
            <a:r>
              <a:rPr lang="en-US" altLang="el-GR" sz="2400" b="1" dirty="0">
                <a:latin typeface="Georgia" panose="02040502050405020303" pitchFamily="18" charset="0"/>
              </a:rPr>
              <a:t>“</a:t>
            </a:r>
            <a:r>
              <a:rPr lang="el-GR" altLang="el-GR" sz="2400" b="1" dirty="0">
                <a:latin typeface="Georgia" panose="02040502050405020303" pitchFamily="18" charset="0"/>
              </a:rPr>
              <a:t>Τεχνητή Νοημοσύνη – Β έκδοση»: Ι. Βλαχάβας, Π. Κεφαλάς, Ν. Βασιλειάδης, Φ. Κόκκορας, Η. Σακελλαρίου</a:t>
            </a:r>
          </a:p>
        </p:txBody>
      </p:sp>
      <p:sp>
        <p:nvSpPr>
          <p:cNvPr id="115716" name="Line 11">
            <a:extLst>
              <a:ext uri="{FF2B5EF4-FFF2-40B4-BE49-F238E27FC236}">
                <a16:creationId xmlns="" xmlns:a16="http://schemas.microsoft.com/office/drawing/2014/main" id="{B5DF46D8-FEDA-4672-BCC0-194627CA98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013" y="728663"/>
            <a:ext cx="8826500" cy="285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115717" name="Line 11">
            <a:extLst>
              <a:ext uri="{FF2B5EF4-FFF2-40B4-BE49-F238E27FC236}">
                <a16:creationId xmlns="" xmlns:a16="http://schemas.microsoft.com/office/drawing/2014/main" id="{D30AC457-5CD8-4582-9D07-0F6D9C549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75" y="6538913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o MIS design">
  <a:themeElements>
    <a:clrScheme name="Theo MIS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heo MIS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heo MIS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Theo MIS design</Template>
  <TotalTime>29217</TotalTime>
  <Words>1195</Words>
  <Application>Microsoft Office PowerPoint</Application>
  <PresentationFormat>On-screen Show (4:3)</PresentationFormat>
  <Paragraphs>154</Paragraphs>
  <Slides>28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Theo MIS design</vt:lpstr>
      <vt:lpstr>Equation</vt:lpstr>
      <vt:lpstr>CN6005 Τεχνητή Νοημοσύνη</vt:lpstr>
      <vt:lpstr>Εισαγωγή</vt:lpstr>
      <vt:lpstr>Παράδειγμα</vt:lpstr>
      <vt:lpstr>Ευρετικός Μηχανισμός</vt:lpstr>
      <vt:lpstr>Ευρετικός Μηχανισμός</vt:lpstr>
      <vt:lpstr>Ευριστικές συναρτήσεις σε λαβύρινθο</vt:lpstr>
      <vt:lpstr>Ευριστικές συναρτήσεις στο N-Puzzle</vt:lpstr>
      <vt:lpstr>PowerPoint Presentation</vt:lpstr>
      <vt:lpstr>Greedy Best First Search</vt:lpstr>
      <vt:lpstr>Algorithm Greedy BestFS(Initial, Final)</vt:lpstr>
      <vt:lpstr>Greedy BestFS - Σχόλια</vt:lpstr>
      <vt:lpstr>Το  πρόβλημα του Λαβυρίνθου</vt:lpstr>
      <vt:lpstr>Greedy BestFS στον λαβύρινθο με Manhattan</vt:lpstr>
      <vt:lpstr>Greedy BestFS στον λαβύρινθο με Manhattan</vt:lpstr>
      <vt:lpstr>Δένδρο Αναζήτησης στο 8-Puzzle</vt:lpstr>
      <vt:lpstr>Greedy BestFS στο 8-Puzzle</vt:lpstr>
      <vt:lpstr>Αναρρίχηση Λόφων</vt:lpstr>
      <vt:lpstr>algorithm HC(Initial, Final)</vt:lpstr>
      <vt:lpstr>HC - Σχόλια</vt:lpstr>
      <vt:lpstr>Ακτινωτή Αναζήτηση</vt:lpstr>
      <vt:lpstr>algorithm Best-N-first(Initial, Final)</vt:lpstr>
      <vt:lpstr>Άσκηση 1</vt:lpstr>
      <vt:lpstr>Άσκηση 2</vt:lpstr>
      <vt:lpstr>Ο αλγόριθμος Α*</vt:lpstr>
      <vt:lpstr>Ο αλγόριθμος Α*</vt:lpstr>
      <vt:lpstr>Ο αλγόριθμος Α*</vt:lpstr>
      <vt:lpstr>Ο αλγόριθμος Α*, παράδειγμα</vt:lpstr>
      <vt:lpstr>Πηγές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thodoris</dc:creator>
  <cp:lastModifiedBy>GT</cp:lastModifiedBy>
  <cp:revision>3113</cp:revision>
  <dcterms:created xsi:type="dcterms:W3CDTF">1601-01-01T00:00:00Z</dcterms:created>
  <dcterms:modified xsi:type="dcterms:W3CDTF">2023-11-13T09:48:40Z</dcterms:modified>
</cp:coreProperties>
</file>