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432" r:id="rId2"/>
    <p:sldId id="433" r:id="rId3"/>
    <p:sldId id="434" r:id="rId4"/>
    <p:sldId id="435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31" r:id="rId25"/>
  </p:sldIdLst>
  <p:sldSz cx="9144000" cy="6858000" type="screen4x3"/>
  <p:notesSz cx="67611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o M" initials="TM" lastIdx="1" clrIdx="0">
    <p:extLst>
      <p:ext uri="{19B8F6BF-5375-455C-9EA6-DF929625EA0E}">
        <p15:presenceInfo xmlns="" xmlns:p15="http://schemas.microsoft.com/office/powerpoint/2012/main" userId="edda31499d6813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6600"/>
    <a:srgbClr val="009900"/>
    <a:srgbClr val="FFFFCC"/>
    <a:srgbClr val="DCEEB0"/>
    <a:srgbClr val="FFFF00"/>
    <a:srgbClr val="3715C9"/>
    <a:srgbClr val="C3FDC3"/>
    <a:srgbClr val="F3DEAB"/>
    <a:srgbClr val="C3D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9" autoAdjust="0"/>
    <p:restoredTop sz="94912" autoAdjust="0"/>
  </p:normalViewPr>
  <p:slideViewPr>
    <p:cSldViewPr snapToGrid="0">
      <p:cViewPr varScale="1">
        <p:scale>
          <a:sx n="106" d="100"/>
          <a:sy n="106" d="100"/>
        </p:scale>
        <p:origin x="-730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761" y="0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3662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761" y="9443662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C0DA61-A7C2-44F3-BB60-507199EF41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24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761" y="0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46125"/>
            <a:ext cx="496728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6117" y="4722694"/>
            <a:ext cx="5408930" cy="4474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 noProof="0"/>
              <a:t>Click to edit Master text styles</a:t>
            </a:r>
          </a:p>
          <a:p>
            <a:pPr lvl="1"/>
            <a:r>
              <a:rPr lang="el-GR" noProof="0"/>
              <a:t>Second level</a:t>
            </a:r>
          </a:p>
          <a:p>
            <a:pPr lvl="2"/>
            <a:r>
              <a:rPr lang="el-GR" noProof="0"/>
              <a:t>Third level</a:t>
            </a:r>
          </a:p>
          <a:p>
            <a:pPr lvl="3"/>
            <a:r>
              <a:rPr lang="el-GR" noProof="0"/>
              <a:t>Fourth level</a:t>
            </a:r>
          </a:p>
          <a:p>
            <a:pPr lvl="4"/>
            <a:r>
              <a:rPr lang="el-GR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3662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761" y="9443662"/>
            <a:ext cx="2929837" cy="497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184996-9F24-4DD5-88BC-2948AB663C3D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2967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="" xmlns:a16="http://schemas.microsoft.com/office/drawing/2014/main" id="{7950345B-CFC8-44C2-91AC-9DF2755780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256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07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479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51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23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19538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3C61874-7EB7-48D7-A2A7-FC1E8990077A}" type="slidenum">
              <a:rPr lang="el-GR" altLang="el-GR"/>
              <a:pPr>
                <a:spcBef>
                  <a:spcPct val="0"/>
                </a:spcBef>
              </a:pPr>
              <a:t>1</a:t>
            </a:fld>
            <a:endParaRPr lang="el-GR" altLang="el-GR"/>
          </a:p>
        </p:txBody>
      </p:sp>
      <p:sp>
        <p:nvSpPr>
          <p:cNvPr id="6147" name="Rectangle 2">
            <a:extLst>
              <a:ext uri="{FF2B5EF4-FFF2-40B4-BE49-F238E27FC236}">
                <a16:creationId xmlns="" xmlns:a16="http://schemas.microsoft.com/office/drawing/2014/main" id="{924AA6CB-D7CC-430D-AF14-EBB2D37A92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3D005537-1D46-45A1-B59D-86EACC306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017F3-54A9-43B6-A285-6F82F371A4C4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EC6A1-DB1E-42A8-9E59-E9E2FB2F9E2B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662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53222-1696-4E02-A3B5-40E82A6AEBC5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011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AF30F-1CCC-414A-8D7F-C6E49BF03231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401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0754E-8652-4E45-BB50-53C1807AE39F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7869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3A585-7003-4C91-BDAD-290C72F68E88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290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6B5D6-E5D6-4AC2-9BFF-9E393F896604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6776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E8C29-9BA7-490E-A28C-19BEAC764CA2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18931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C8943-F8CB-46B1-8A11-B4BE2ACBD8A0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4299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83BD1-5708-460A-AE67-ED62F64984BF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9926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B2C1F-0D28-4AD5-92C8-4A2E32E4A0CE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13600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EA234-ABA1-4194-BF2D-7213F4AE26BD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68268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DAFAD-3EE5-4258-A37F-5E78BCD7FBBE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1488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EAAC3-68B2-4001-BCC2-E64C746A51E3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7266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l-GR"/>
              <a:t>Click to edit Master text styles</a:t>
            </a:r>
          </a:p>
          <a:p>
            <a:pPr lvl="1"/>
            <a:r>
              <a:rPr lang="el-GR"/>
              <a:t>Second level</a:t>
            </a:r>
          </a:p>
          <a:p>
            <a:pPr lvl="2"/>
            <a:r>
              <a:rPr lang="el-GR"/>
              <a:t>Third level</a:t>
            </a:r>
          </a:p>
          <a:p>
            <a:pPr lvl="3"/>
            <a:r>
              <a:rPr lang="el-GR"/>
              <a:t>Fourth level</a:t>
            </a:r>
          </a:p>
          <a:p>
            <a:pPr lvl="4"/>
            <a:r>
              <a:rPr lang="el-GR"/>
              <a:t>Fifth level</a:t>
            </a:r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l-GR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3E46A96-D4BC-4F70-91BE-6DD67F825352}" type="slidenum">
              <a:rPr lang="el-GR"/>
              <a:pPr>
                <a:defRPr/>
              </a:pPr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9D102628-4048-42DE-9458-D883B45E40D0}"/>
              </a:ext>
            </a:extLst>
          </p:cNvPr>
          <p:cNvSpPr/>
          <p:nvPr/>
        </p:nvSpPr>
        <p:spPr>
          <a:xfrm>
            <a:off x="111988" y="1274941"/>
            <a:ext cx="8845480" cy="4197000"/>
          </a:xfrm>
          <a:prstGeom prst="roundRect">
            <a:avLst>
              <a:gd name="adj" fmla="val 12128"/>
            </a:avLst>
          </a:prstGeom>
          <a:solidFill>
            <a:srgbClr val="92D050">
              <a:alpha val="2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122" name="Slide Number Placeholder 5">
            <a:extLst>
              <a:ext uri="{FF2B5EF4-FFF2-40B4-BE49-F238E27FC236}">
                <a16:creationId xmlns="" xmlns:a16="http://schemas.microsoft.com/office/drawing/2014/main" id="{10B71E0F-3C88-4E47-BE72-A628324C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002F2F-5E0B-407D-8ACA-63ED348F7D8F}" type="slidenum">
              <a:rPr lang="el-GR" altLang="el-G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l-GR" altLang="el-GR" sz="1400"/>
          </a:p>
        </p:txBody>
      </p:sp>
      <p:sp>
        <p:nvSpPr>
          <p:cNvPr id="7171" name="Rectangle 2">
            <a:extLst>
              <a:ext uri="{FF2B5EF4-FFF2-40B4-BE49-F238E27FC236}">
                <a16:creationId xmlns="" xmlns:a16="http://schemas.microsoft.com/office/drawing/2014/main" id="{689B148E-77DC-4634-BD7B-7BD2438DB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182" y="1274940"/>
            <a:ext cx="8737600" cy="1288196"/>
          </a:xfrm>
        </p:spPr>
        <p:txBody>
          <a:bodyPr/>
          <a:lstStyle/>
          <a:p>
            <a:pPr eaLnBrk="1" hangingPunct="1">
              <a:defRPr/>
            </a:pPr>
            <a:r>
              <a:rPr lang="en-GB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>CN6005</a:t>
            </a:r>
            <a: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/>
            </a:r>
            <a:br>
              <a:rPr 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</a:br>
            <a:r>
              <a:rPr lang="el-GR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</a:rPr>
              <a:t>Τεχνητή Νοημοσύνη</a:t>
            </a:r>
            <a:endParaRPr lang="el-GR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rebuchet MS" pitchFamily="34" charset="0"/>
            </a:endParaRPr>
          </a:p>
        </p:txBody>
      </p:sp>
      <p:sp>
        <p:nvSpPr>
          <p:cNvPr id="5125" name="Line 11">
            <a:extLst>
              <a:ext uri="{FF2B5EF4-FFF2-40B4-BE49-F238E27FC236}">
                <a16:creationId xmlns="" xmlns:a16="http://schemas.microsoft.com/office/drawing/2014/main" id="{7B50196B-55B4-405A-AEC5-5E05888A7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" y="6538913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9" name="Rectangle 2">
            <a:extLst>
              <a:ext uri="{FF2B5EF4-FFF2-40B4-BE49-F238E27FC236}">
                <a16:creationId xmlns="" xmlns:a16="http://schemas.microsoft.com/office/drawing/2014/main" id="{22B24B1D-2475-4526-83CA-727229B4D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71975"/>
            <a:ext cx="4252118" cy="2354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en-US" sz="54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  <a:ea typeface="+mj-ea"/>
                <a:cs typeface="+mj-cs"/>
              </a:rPr>
              <a:t>Lecture </a:t>
            </a:r>
            <a:r>
              <a:rPr lang="en-US" sz="5400" b="1" kern="0" dirty="0" smtClean="0">
                <a:ln w="22225">
                  <a:solidFill>
                    <a:srgbClr val="FF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rebuchet MS" pitchFamily="34" charset="0"/>
                <a:ea typeface="+mj-ea"/>
                <a:cs typeface="+mj-cs"/>
              </a:rPr>
              <a:t>5</a:t>
            </a:r>
            <a:endParaRPr lang="el-GR" sz="5400" b="1" kern="0" dirty="0">
              <a:ln w="22225">
                <a:solidFill>
                  <a:srgbClr val="FF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rebuchet MS" pitchFamily="34" charset="0"/>
              <a:ea typeface="+mj-ea"/>
              <a:cs typeface="+mj-cs"/>
            </a:endParaRPr>
          </a:p>
          <a:p>
            <a:pPr algn="ctr" eaLnBrk="1" hangingPunct="1">
              <a:defRPr/>
            </a:pPr>
            <a:r>
              <a:rPr lang="el-GR" sz="32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92D050"/>
                </a:solidFill>
                <a:latin typeface="Trebuchet MS" pitchFamily="34" charset="0"/>
                <a:ea typeface="+mj-ea"/>
                <a:cs typeface="+mj-cs"/>
              </a:rPr>
              <a:t>Αναζήτηση σε παίγνια δύο αντιπάλων (</a:t>
            </a:r>
            <a:r>
              <a:rPr lang="en-US" sz="3200" b="1" kern="0" dirty="0">
                <a:ln w="22225">
                  <a:solidFill>
                    <a:srgbClr val="FF0000"/>
                  </a:solidFill>
                  <a:prstDash val="solid"/>
                </a:ln>
                <a:solidFill>
                  <a:srgbClr val="92D050"/>
                </a:solidFill>
                <a:latin typeface="Trebuchet MS" pitchFamily="34" charset="0"/>
                <a:ea typeface="+mj-ea"/>
                <a:cs typeface="+mj-cs"/>
              </a:rPr>
              <a:t>Adversary games)</a:t>
            </a:r>
            <a:endParaRPr lang="el-GR" sz="3200" b="1" kern="0" dirty="0">
              <a:ln w="22225">
                <a:solidFill>
                  <a:srgbClr val="FF0000"/>
                </a:solidFill>
                <a:prstDash val="solid"/>
              </a:ln>
              <a:solidFill>
                <a:srgbClr val="92D050"/>
              </a:solidFill>
              <a:latin typeface="Trebuchet MS" pitchFamily="34" charset="0"/>
              <a:ea typeface="+mj-ea"/>
              <a:cs typeface="+mj-cs"/>
            </a:endParaRPr>
          </a:p>
        </p:txBody>
      </p:sp>
      <p:sp>
        <p:nvSpPr>
          <p:cNvPr id="6" name="Line 11">
            <a:extLst>
              <a:ext uri="{FF2B5EF4-FFF2-40B4-BE49-F238E27FC236}">
                <a16:creationId xmlns="" xmlns:a16="http://schemas.microsoft.com/office/drawing/2014/main" id="{DD9F368F-3AB4-4E00-BAEF-56EA7319A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988" y="1115075"/>
            <a:ext cx="8789988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7ACE89F5-3E18-41CC-9F50-0A57DB882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050" y="3032011"/>
            <a:ext cx="4037810" cy="1730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Εισαγωγή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32" y="645695"/>
            <a:ext cx="8534400" cy="5739063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Υπάρχουν προβλήματα στην ΤΝ  στα οποία ενεργούν δύο ανταγωνιζόμενοι παίκτες.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Ονομάζονται </a:t>
            </a:r>
            <a:r>
              <a:rPr lang="el-GR" altLang="el-GR" sz="1800" b="1" dirty="0">
                <a:solidFill>
                  <a:srgbClr val="0070C0"/>
                </a:solidFill>
                <a:latin typeface="Georgia" panose="02040502050405020303" pitchFamily="18" charset="0"/>
              </a:rPr>
              <a:t>ανταγωνιστικά παίγνια </a:t>
            </a:r>
            <a:r>
              <a:rPr lang="el-GR" altLang="el-GR" sz="1800" dirty="0">
                <a:latin typeface="Georgia" panose="02040502050405020303" pitchFamily="18" charset="0"/>
              </a:rPr>
              <a:t>ή </a:t>
            </a:r>
            <a:r>
              <a:rPr lang="el-GR" altLang="el-GR" sz="1800" b="1" dirty="0">
                <a:solidFill>
                  <a:srgbClr val="0070C0"/>
                </a:solidFill>
                <a:latin typeface="Georgia" panose="02040502050405020303" pitchFamily="18" charset="0"/>
              </a:rPr>
              <a:t>παίγνια δύο αντιπάλων </a:t>
            </a:r>
            <a:r>
              <a:rPr lang="el-GR" altLang="el-GR" sz="1800" dirty="0">
                <a:latin typeface="Georgia" panose="02040502050405020303" pitchFamily="18" charset="0"/>
              </a:rPr>
              <a:t>(</a:t>
            </a:r>
            <a:r>
              <a:rPr lang="el-GR" altLang="el-GR" sz="1800" b="1" dirty="0">
                <a:solidFill>
                  <a:srgbClr val="0070C0"/>
                </a:solidFill>
                <a:latin typeface="Georgia" panose="02040502050405020303" pitchFamily="18" charset="0"/>
              </a:rPr>
              <a:t>adversary ή two-person games</a:t>
            </a:r>
            <a:r>
              <a:rPr lang="el-GR" altLang="el-GR" sz="1800" dirty="0">
                <a:latin typeface="Georgia" panose="02040502050405020303" pitchFamily="18" charset="0"/>
              </a:rPr>
              <a:t>)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Υπάρχουν δύο διαφορετικά σύνολα τελεστών μετάβασης (ένα για κάθε παίκτη)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Επιλύονται με ειδικούς αλγορίθμους αναζήτησης (π.χ. minimax, alpha-beta)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 όρος "</a:t>
            </a:r>
            <a:r>
              <a:rPr lang="el-GR" altLang="el-GR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παίγνιο</a:t>
            </a:r>
            <a:r>
              <a:rPr lang="el-GR" altLang="el-GR" sz="2400" dirty="0">
                <a:latin typeface="Georgia" panose="02040502050405020303" pitchFamily="18" charset="0"/>
              </a:rPr>
              <a:t>" αφορά την περιγραφή του τρόπου με τον οποίο παίζεται το παιχνίδι και περιλαμβάνει: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τα αντικείμενα που υπάρχουν (π.χ. πούλια, ταμπλώ, κτλ.)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το σύνολο των κανόνων (π.χ. επιτρεπτές κινήσεις, συνθήκες νίκης, κ.α.) 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Ως "</a:t>
            </a:r>
            <a:r>
              <a:rPr lang="el-GR" altLang="el-GR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παιχνίδι</a:t>
            </a:r>
            <a:r>
              <a:rPr lang="el-GR" altLang="el-GR" sz="2400" dirty="0">
                <a:latin typeface="Georgia" panose="02040502050405020303" pitchFamily="18" charset="0"/>
              </a:rPr>
              <a:t>" χαρακτηρίζεται μία συγκεκριμένη παρτίδα του παιγνίου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Γνωστά παραδείγματα παιγνίων είναι το σκάκι, η τρίλιζα, το τάβλι, κτλ.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Ορισμός προβλήματος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B15EB9F7-EDE8-4AB3-BE0F-C7E785BC3F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58" y="1241870"/>
            <a:ext cx="8649417" cy="3778000"/>
          </a:xfrm>
        </p:spPr>
      </p:pic>
    </p:spTree>
    <p:extLst>
      <p:ext uri="{BB962C8B-B14F-4D97-AF65-F5344CB8AC3E}">
        <p14:creationId xmlns:p14="http://schemas.microsoft.com/office/powerpoint/2010/main" val="166632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Τρόπος σκέψης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056C9204-71D7-4355-883D-199C0677C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80" y="1144127"/>
            <a:ext cx="8229600" cy="4169146"/>
          </a:xfrm>
        </p:spPr>
      </p:pic>
    </p:spTree>
    <p:extLst>
      <p:ext uri="{BB962C8B-B14F-4D97-AF65-F5344CB8AC3E}">
        <p14:creationId xmlns:p14="http://schemas.microsoft.com/office/powerpoint/2010/main" val="401458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Δένδρο παιχνιδιού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32" y="645695"/>
            <a:ext cx="8534400" cy="5739063"/>
          </a:xfrm>
        </p:spPr>
        <p:txBody>
          <a:bodyPr/>
          <a:lstStyle/>
          <a:p>
            <a:pPr eaLnBrk="1" hangingPunct="1"/>
            <a:r>
              <a:rPr lang="el-GR" altLang="el-GR" sz="2800" i="1" dirty="0">
                <a:solidFill>
                  <a:srgbClr val="008000"/>
                </a:solidFill>
                <a:latin typeface="Georgia" panose="02040502050405020303" pitchFamily="18" charset="0"/>
              </a:rPr>
              <a:t>Οι κινήσεις δύο διαδοχικών επιπέδων ανήκουν σε διαφορετικό παίκτη</a:t>
            </a:r>
          </a:p>
          <a:p>
            <a:pPr lvl="1" eaLnBrk="1" hangingPunct="1"/>
            <a:r>
              <a:rPr lang="el-GR" altLang="el-GR" sz="2400" dirty="0">
                <a:latin typeface="Georgia" panose="02040502050405020303" pitchFamily="18" charset="0"/>
              </a:rPr>
              <a:t>Το δένδρο αναπτύσσεται νοερά από τον παίκτη πριν επιλέξει κίνηση </a:t>
            </a:r>
          </a:p>
          <a:p>
            <a:pPr lvl="1" eaLnBrk="1" hangingPunct="1"/>
            <a:r>
              <a:rPr lang="el-GR" altLang="el-GR" sz="2400" dirty="0">
                <a:latin typeface="Georgia" panose="02040502050405020303" pitchFamily="18" charset="0"/>
              </a:rPr>
              <a:t>Η ανάπτυξη του δένδρου σταματά σε κάποιο βάθος (συνήθως μικρό)</a:t>
            </a:r>
          </a:p>
          <a:p>
            <a:pPr lvl="1" eaLnBrk="1" hangingPunct="1"/>
            <a:r>
              <a:rPr lang="el-GR" altLang="el-GR" sz="2400" dirty="0">
                <a:latin typeface="Georgia" panose="02040502050405020303" pitchFamily="18" charset="0"/>
              </a:rPr>
              <a:t>Οι καταστάσεις στο τελευταίο επίπεδο αξιολογούνται με κάποια κριτήρια</a:t>
            </a:r>
          </a:p>
          <a:p>
            <a:pPr lvl="1" eaLnBrk="1" hangingPunct="1"/>
            <a:r>
              <a:rPr lang="el-GR" altLang="el-GR" sz="2400" dirty="0">
                <a:latin typeface="Georgia" panose="02040502050405020303" pitchFamily="18" charset="0"/>
              </a:rPr>
              <a:t>Οι τιμές μεταδίδονται προς τη ρίζα αξιολογώντας όλες τις καταστάσεις</a:t>
            </a:r>
          </a:p>
          <a:p>
            <a:pPr lvl="1" eaLnBrk="1" hangingPunct="1"/>
            <a:r>
              <a:rPr lang="el-GR" altLang="el-GR" sz="2400" dirty="0">
                <a:latin typeface="Georgia" panose="02040502050405020303" pitchFamily="18" charset="0"/>
              </a:rPr>
              <a:t>Ο παίκτης επιλέγει το κλαδί με την καλύτερη τιμή </a:t>
            </a:r>
          </a:p>
          <a:p>
            <a:pPr lvl="2" eaLnBrk="1" hangingPunct="1"/>
            <a:r>
              <a:rPr lang="el-GR" altLang="el-GR" sz="2000" dirty="0">
                <a:latin typeface="Georgia" panose="02040502050405020303" pitchFamily="18" charset="0"/>
              </a:rPr>
              <a:t>Μονοπάτι με την ευνοϊκότερη εξέλιξη</a:t>
            </a:r>
            <a:endParaRPr lang="el-GR" altLang="el-GR" sz="1200" dirty="0"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5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Βάθος ανάπτυξης δένδρου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32" y="645695"/>
            <a:ext cx="8534400" cy="5739063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Το δένδρο πρέπει να αναπτύσσεται στο </a:t>
            </a:r>
            <a:r>
              <a:rPr lang="el-GR" altLang="el-GR" sz="2400" dirty="0">
                <a:solidFill>
                  <a:srgbClr val="0070C0"/>
                </a:solidFill>
                <a:latin typeface="Georgia" panose="02040502050405020303" pitchFamily="18" charset="0"/>
              </a:rPr>
              <a:t>μέγιστο δυνατό βάθος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Αν υπήρχε δυνατότητα πλήρους ανάπτυξης, τα προγράμματα θα ήταν ανίκητα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Αυτό είναι αδύνατο λόγω της συνδυαστικής έκρηξης 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Έστω για παράδειγμα στο σκάκι: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Μέσος παράγοντας διακλάδωσης = 10, μέσος αριθμός κινήσεων για ματ = 40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Πιθανές τελικές καταστάσεις ≈ 10</a:t>
            </a:r>
            <a:r>
              <a:rPr lang="el-GR" altLang="el-GR" sz="1800" baseline="30000" dirty="0">
                <a:latin typeface="Georgia" panose="02040502050405020303" pitchFamily="18" charset="0"/>
              </a:rPr>
              <a:t>40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Αν ο υπολογιστής θέλει 1 nsec (10</a:t>
            </a:r>
            <a:r>
              <a:rPr lang="el-GR" altLang="el-GR" sz="1800" baseline="30000" dirty="0">
                <a:latin typeface="Georgia" panose="02040502050405020303" pitchFamily="18" charset="0"/>
              </a:rPr>
              <a:t>-9</a:t>
            </a:r>
            <a:r>
              <a:rPr lang="el-GR" altLang="el-GR" sz="1800" dirty="0">
                <a:latin typeface="Georgia" panose="02040502050405020303" pitchFamily="18" charset="0"/>
              </a:rPr>
              <a:t> sec) για μία κατάσταση, χρειάζεται 10</a:t>
            </a:r>
            <a:r>
              <a:rPr lang="el-GR" altLang="el-GR" sz="1800" baseline="30000" dirty="0">
                <a:latin typeface="Georgia" panose="02040502050405020303" pitchFamily="18" charset="0"/>
              </a:rPr>
              <a:t>31</a:t>
            </a:r>
            <a:r>
              <a:rPr lang="el-GR" altLang="el-GR" sz="1800" dirty="0">
                <a:latin typeface="Georgia" panose="02040502050405020303" pitchFamily="18" charset="0"/>
              </a:rPr>
              <a:t>sec ≈ 3x10</a:t>
            </a:r>
            <a:r>
              <a:rPr lang="el-GR" altLang="el-GR" sz="1800" baseline="30000" dirty="0">
                <a:latin typeface="Georgia" panose="02040502050405020303" pitchFamily="18" charset="0"/>
              </a:rPr>
              <a:t>24</a:t>
            </a:r>
            <a:r>
              <a:rPr lang="el-GR" altLang="el-GR" sz="1800" dirty="0">
                <a:latin typeface="Georgia" panose="02040502050405020303" pitchFamily="18" charset="0"/>
              </a:rPr>
              <a:t> χρόνια για να τις εξετάσει όλες</a:t>
            </a:r>
          </a:p>
          <a:p>
            <a:pPr lvl="2" eaLnBrk="1" hangingPunct="1"/>
            <a:r>
              <a:rPr lang="el-GR" altLang="el-GR" sz="1400" dirty="0">
                <a:latin typeface="Georgia" panose="02040502050405020303" pitchFamily="18" charset="0"/>
              </a:rPr>
              <a:t>Αυτό είναι περίπου το 1/4 της ηλικίας του σύμπαντος 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Άρα το βάθος στο οποίο αναπτύσσεται το δένδρο είναι σχετικά μικρό 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Εξαρτάται από τους χρονικούς περιορισμούς του συστήματος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C5ADC07D-8490-4874-AC28-3BA7B92D9B80}"/>
              </a:ext>
            </a:extLst>
          </p:cNvPr>
          <p:cNvSpPr/>
          <p:nvPr/>
        </p:nvSpPr>
        <p:spPr>
          <a:xfrm>
            <a:off x="552450" y="2406650"/>
            <a:ext cx="8222582" cy="2247900"/>
          </a:xfrm>
          <a:prstGeom prst="roundRect">
            <a:avLst>
              <a:gd name="adj" fmla="val 9322"/>
            </a:avLst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3909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07" y="645695"/>
            <a:ext cx="8914731" cy="5821436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 αλγόριθμος Ελαχίστου – Μεγίστου (MinMax) αποφασίζει για την επόμενη κίνηση με βάση την τρέχουσα κατάσταση  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Το ζητούμενο είναι: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Να χτιστεί το δένδρο μέχρι κάποιο βάθος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Να βρεθεί η καλύτερη κίνηση από την παρούσα κατάσταση</a:t>
            </a:r>
          </a:p>
          <a:p>
            <a:pPr eaLnBrk="1" hangingPunct="1"/>
            <a:r>
              <a:rPr lang="el-GR" altLang="el-GR" sz="2400" i="1" dirty="0">
                <a:solidFill>
                  <a:srgbClr val="006600"/>
                </a:solidFill>
                <a:latin typeface="Georgia" panose="02040502050405020303" pitchFamily="18" charset="0"/>
              </a:rPr>
              <a:t>Το μέτρο της υπεροχής ενός παίκτη καθορίζεται από μία ευριστική συνάρτηση που ονομάζεται </a:t>
            </a:r>
            <a:r>
              <a:rPr lang="el-GR" altLang="el-GR" sz="2400" b="1" i="1" dirty="0">
                <a:solidFill>
                  <a:srgbClr val="0070C0"/>
                </a:solidFill>
                <a:latin typeface="Georgia" panose="02040502050405020303" pitchFamily="18" charset="0"/>
              </a:rPr>
              <a:t>συνάρτηση αξιολόγησης (evaluation function) </a:t>
            </a:r>
            <a:r>
              <a:rPr lang="el-GR" altLang="el-GR" sz="2400" i="1" dirty="0">
                <a:solidFill>
                  <a:srgbClr val="006600"/>
                </a:solidFill>
                <a:latin typeface="Georgia" panose="02040502050405020303" pitchFamily="18" charset="0"/>
              </a:rPr>
              <a:t>και εφαρμόζεται στα φύλλα 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Οι δύο παίκτες αποκαλούνται στον αλγόριθμο ως max και min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Οι κόμβοι του δένδρου διακρίνονται σε: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Αυτούς που σειρά έχει να παίξει ο max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Αυτούς που σειρά έχει να παίξει ο min</a:t>
            </a:r>
            <a:endParaRPr lang="el-GR" altLang="el-GR" sz="1400" dirty="0"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="" xmlns:a16="http://schemas.microsoft.com/office/drawing/2014/main" id="{FBA9A3C0-1844-4BF0-A0D5-16A1CCCEE112}"/>
              </a:ext>
            </a:extLst>
          </p:cNvPr>
          <p:cNvSpPr/>
          <p:nvPr/>
        </p:nvSpPr>
        <p:spPr>
          <a:xfrm>
            <a:off x="97506" y="1460500"/>
            <a:ext cx="8914731" cy="2692400"/>
          </a:xfrm>
          <a:prstGeom prst="roundRect">
            <a:avLst>
              <a:gd name="adj" fmla="val 9322"/>
            </a:avLst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4597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Βήματα αλγορίθμου </a:t>
            </a:r>
            <a:r>
              <a:rPr lang="en-US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E2330A72-41D8-4578-A424-424D70A92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69" y="1232476"/>
            <a:ext cx="8755861" cy="4050724"/>
          </a:xfrm>
        </p:spPr>
      </p:pic>
    </p:spTree>
    <p:extLst>
      <p:ext uri="{BB962C8B-B14F-4D97-AF65-F5344CB8AC3E}">
        <p14:creationId xmlns:p14="http://schemas.microsoft.com/office/powerpoint/2010/main" val="92956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507" y="920733"/>
            <a:ext cx="8914731" cy="5546397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 αλγόριθμος εγγυάται την πιο συμφέρουσα εξέλιξη, έστω και αν ο αντίπαλος διαλέγει πάντα τις καλύτερες για αυτόν κινήσεις</a:t>
            </a:r>
          </a:p>
          <a:p>
            <a:pPr eaLnBrk="1" hangingPunct="1"/>
            <a:r>
              <a:rPr lang="el-GR" altLang="el-GR" sz="2400" i="1" dirty="0">
                <a:solidFill>
                  <a:srgbClr val="006600"/>
                </a:solidFill>
                <a:latin typeface="Georgia" panose="02040502050405020303" pitchFamily="18" charset="0"/>
              </a:rPr>
              <a:t>Οι καταστάσεις φύλλα αξιολογούνται από τη </a:t>
            </a:r>
            <a:r>
              <a:rPr lang="el-GR" altLang="el-GR" sz="2400" b="1" i="1" dirty="0">
                <a:solidFill>
                  <a:srgbClr val="006600"/>
                </a:solidFill>
                <a:latin typeface="Georgia" panose="02040502050405020303" pitchFamily="18" charset="0"/>
              </a:rPr>
              <a:t>συνάρτηση αξιολόγησης </a:t>
            </a:r>
            <a:r>
              <a:rPr lang="el-GR" altLang="el-GR" sz="2400" i="1" dirty="0">
                <a:solidFill>
                  <a:srgbClr val="006600"/>
                </a:solidFill>
                <a:latin typeface="Georgia" panose="02040502050405020303" pitchFamily="18" charset="0"/>
              </a:rPr>
              <a:t>ενώ οι υπόλοιπες καταστάσεις από την διάδοση των τιμών των φύλλων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Συνήθως ως ρίζα του δένδρου θεωρείται ο παίκτης max</a:t>
            </a:r>
          </a:p>
          <a:p>
            <a:pPr eaLnBrk="1" hangingPunct="1"/>
            <a:endParaRPr lang="el-GR" altLang="el-GR" sz="2400" dirty="0"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8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363191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Παράδειγμα αλγορίθμου </a:t>
            </a:r>
            <a:r>
              <a:rPr lang="en-US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41474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8980BF7D-A869-40A9-8565-C4C25D085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57" y="422677"/>
            <a:ext cx="7686675" cy="6315468"/>
          </a:xfrm>
        </p:spPr>
      </p:pic>
    </p:spTree>
    <p:extLst>
      <p:ext uri="{BB962C8B-B14F-4D97-AF65-F5344CB8AC3E}">
        <p14:creationId xmlns:p14="http://schemas.microsoft.com/office/powerpoint/2010/main" val="3502153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  <a:r>
              <a:rPr lang="en-US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στην Τρίλιζα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634" y="720577"/>
            <a:ext cx="8914731" cy="1454166"/>
          </a:xfrm>
        </p:spPr>
        <p:txBody>
          <a:bodyPr/>
          <a:lstStyle/>
          <a:p>
            <a:pPr eaLnBrk="1" hangingPunct="1"/>
            <a:r>
              <a:rPr lang="el-GR" altLang="el-GR" sz="2000" dirty="0">
                <a:latin typeface="Georgia" panose="02040502050405020303" pitchFamily="18" charset="0"/>
              </a:rPr>
              <a:t>Η τρίλιζα έχει μικρό χώρο αναζήτησης (9! καταστάσεις) </a:t>
            </a:r>
          </a:p>
          <a:p>
            <a:pPr eaLnBrk="1" hangingPunct="1"/>
            <a:r>
              <a:rPr lang="el-GR" altLang="el-GR" sz="2000" dirty="0">
                <a:latin typeface="Georgia" panose="02040502050405020303" pitchFamily="18" charset="0"/>
              </a:rPr>
              <a:t>Όλες οι καταστάσεις μπορούν να κωδικοποιηθούν σε πρόγραμμα το οποίο δε θα χάνει ποτέ</a:t>
            </a:r>
          </a:p>
          <a:p>
            <a:pPr eaLnBrk="1" hangingPunct="1"/>
            <a:r>
              <a:rPr lang="el-GR" altLang="el-GR" sz="2000" dirty="0">
                <a:latin typeface="Georgia" panose="02040502050405020303" pitchFamily="18" charset="0"/>
              </a:rPr>
              <a:t>Αποτελεί καλό παράδειγμα εφαρμογής του αλγορίθμου Μinimax.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13" y="566690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7C2673B-F93B-4C22-8650-CF27AE123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32" y="2293298"/>
            <a:ext cx="6801799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7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  <a:r>
              <a:rPr lang="en-US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στο Σκάκι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50081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725A2A5-2849-4AFA-ADF4-7A92A70BA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5" y="1127656"/>
            <a:ext cx="8737820" cy="466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07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MiniMax</a:t>
            </a:r>
            <a:r>
              <a:rPr lang="en-US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στο Σκάκι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47129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5451C8C-89E8-4BFB-A01F-2638E2887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96" y="536234"/>
            <a:ext cx="6316054" cy="629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74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AlphaBeta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634" y="752266"/>
            <a:ext cx="8914731" cy="2130763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Ο αλγόριθμος Άλφα-Βήτα (Alpha-Beta - ΑΒ) αποφεύγει την αξιολόγηση καταστάσεων που ικανοποιούν ορισμένες συνθήκες</a:t>
            </a:r>
          </a:p>
          <a:p>
            <a:pPr lvl="1" eaLnBrk="1" hangingPunct="1"/>
            <a:r>
              <a:rPr lang="el-GR" altLang="el-GR" sz="1800" dirty="0">
                <a:latin typeface="Georgia" panose="02040502050405020303" pitchFamily="18" charset="0"/>
              </a:rPr>
              <a:t>Επεκτείνει τον Minimax με τεχνικές κλαδέματος υποδένδρων </a:t>
            </a:r>
          </a:p>
          <a:p>
            <a:pPr lvl="1" eaLnBrk="1" hangingPunct="1"/>
            <a:r>
              <a:rPr lang="el-GR" altLang="el-GR" sz="1800" b="1" dirty="0">
                <a:solidFill>
                  <a:srgbClr val="006600"/>
                </a:solidFill>
                <a:latin typeface="Georgia" panose="02040502050405020303" pitchFamily="18" charset="0"/>
              </a:rPr>
              <a:t>Το κλάδεμα που κάνει ο ΑΒ δεν είναι ευριστικό</a:t>
            </a:r>
            <a:r>
              <a:rPr lang="el-GR" altLang="el-GR" sz="1800" dirty="0">
                <a:latin typeface="Georgia" panose="02040502050405020303" pitchFamily="18" charset="0"/>
              </a:rPr>
              <a:t>, βασίζεται σε πραγματικούς αριθμούς 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50081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C:\Users\GT\Desktop\Pictur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13" y="3149100"/>
            <a:ext cx="7612062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186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AlphaBeta</a:t>
            </a:r>
            <a:endParaRPr lang="el-GR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537" y="553722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C772241-89BA-44D5-B2FA-9F1761708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98354"/>
            <a:ext cx="8258175" cy="486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="" xmlns:a16="http://schemas.microsoft.com/office/drawing/2014/main" id="{2FD075EF-A8BD-477E-A26A-B318902D7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032" y="24064"/>
            <a:ext cx="8229600" cy="457199"/>
          </a:xfrm>
        </p:spPr>
        <p:txBody>
          <a:bodyPr/>
          <a:lstStyle/>
          <a:p>
            <a:pPr eaLnBrk="1" hangingPunct="1">
              <a:defRPr/>
            </a:pPr>
            <a:r>
              <a:rPr lang="el-GR" sz="36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Ο αλγόριθμος </a:t>
            </a:r>
            <a:r>
              <a:rPr lang="en-US" sz="3600" b="1" kern="1200" dirty="0" err="1">
                <a:solidFill>
                  <a:schemeClr val="tx1"/>
                </a:solidFill>
                <a:latin typeface="Georgia" panose="02040502050405020303" pitchFamily="18" charset="0"/>
              </a:rPr>
              <a:t>AlphaBeta</a:t>
            </a:r>
            <a:endParaRPr lang="en-US" sz="36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2F080A86-4EB8-412E-A1AC-DE53559E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634" y="752266"/>
            <a:ext cx="8914731" cy="4965909"/>
          </a:xfrm>
        </p:spPr>
        <p:txBody>
          <a:bodyPr/>
          <a:lstStyle/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Κατά προσέγγιση ο ΑΒ εξετάζει √N τερματικούς κόμβους, όπου Ν είναι οι τερματικοί κόμβοι που εξετάζει ο αλγόριθμος Minimax.</a:t>
            </a:r>
          </a:p>
          <a:p>
            <a:pPr eaLnBrk="1" hangingPunct="1"/>
            <a:r>
              <a:rPr lang="el-GR" altLang="el-GR" sz="2400" dirty="0">
                <a:latin typeface="Georgia" panose="02040502050405020303" pitchFamily="18" charset="0"/>
              </a:rPr>
              <a:t>Η απόδοσή τους βελτιώνεται με διάφορες μεθόδους, όπως: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Ευριστικό κλάδεμα του δένδρου παιχνιδιού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Δυναμική συνάρτηση αξιολόγησης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Αποθήκευση τιμών των τερματικών καταστάσεων (transposition tables)</a:t>
            </a:r>
          </a:p>
          <a:p>
            <a:pPr lvl="1" eaLnBrk="1" hangingPunct="1"/>
            <a:r>
              <a:rPr lang="el-GR" altLang="el-GR" sz="2000" dirty="0">
                <a:latin typeface="Georgia" panose="02040502050405020303" pitchFamily="18" charset="0"/>
              </a:rPr>
              <a:t>Προκαθορισμένες κινήσεις (χωρίς αναζήτηση) σε αρχικές και τελικές φάσεις του παιγνιδιού (Openings, End Game moves)</a:t>
            </a:r>
          </a:p>
        </p:txBody>
      </p:sp>
      <p:sp>
        <p:nvSpPr>
          <p:cNvPr id="2" name="Line 7">
            <a:extLst>
              <a:ext uri="{FF2B5EF4-FFF2-40B4-BE49-F238E27FC236}">
                <a16:creationId xmlns="" xmlns:a16="http://schemas.microsoft.com/office/drawing/2014/main" id="{B42EE8A3-C09E-49E6-A9C4-3049B778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07" y="519861"/>
            <a:ext cx="892492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="" xmlns:a16="http://schemas.microsoft.com/office/drawing/2014/main" id="{EA7D7026-9F10-4739-9ED3-33482A7E0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48885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0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17</a:t>
            </a:fld>
            <a:endParaRPr lang="el-G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22" y="571512"/>
            <a:ext cx="8784903" cy="518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5414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18</a:t>
            </a:fld>
            <a:endParaRPr lang="el-G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71" y="508959"/>
            <a:ext cx="6453721" cy="5603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026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19</a:t>
            </a:fld>
            <a:endParaRPr lang="el-G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62" y="431321"/>
            <a:ext cx="5855316" cy="5735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2481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20</a:t>
            </a:fld>
            <a:endParaRPr lang="el-G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56" y="897146"/>
            <a:ext cx="8718122" cy="4121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0949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21</a:t>
            </a:fld>
            <a:endParaRPr lang="el-G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20" y="802256"/>
            <a:ext cx="8687314" cy="474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799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22</a:t>
            </a:fld>
            <a:endParaRPr lang="el-G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25" y="1065618"/>
            <a:ext cx="8091578" cy="2344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6939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EEC6A1-DB1E-42A8-9E59-E9E2FB2F9E2B}" type="slidenum">
              <a:rPr lang="el-GR" smtClean="0"/>
              <a:pPr>
                <a:defRPr/>
              </a:pPr>
              <a:t>23</a:t>
            </a:fld>
            <a:endParaRPr lang="el-G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27" y="931651"/>
            <a:ext cx="7768798" cy="438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5582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="" xmlns:a16="http://schemas.microsoft.com/office/drawing/2014/main" id="{72EB2DE3-4A37-425C-A97A-67851F686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pPr eaLnBrk="1" hangingPunct="1"/>
            <a:r>
              <a:rPr lang="el-GR" altLang="el-GR" sz="4000" b="1" kern="1200" dirty="0">
                <a:solidFill>
                  <a:schemeClr val="tx1"/>
                </a:solidFill>
                <a:latin typeface="Georgia" panose="02040502050405020303" pitchFamily="18" charset="0"/>
              </a:rPr>
              <a:t>Πηγές</a:t>
            </a:r>
            <a:endParaRPr lang="en-US" altLang="el-GR" sz="4000" b="1" kern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="" xmlns:a16="http://schemas.microsoft.com/office/drawing/2014/main" id="{C5228D85-B5DA-452A-AFCD-382721C6A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953000"/>
          </a:xfrm>
        </p:spPr>
        <p:txBody>
          <a:bodyPr/>
          <a:lstStyle/>
          <a:p>
            <a:pPr marL="914400" lvl="2" indent="0" eaLnBrk="1" hangingPunct="1">
              <a:buFontTx/>
              <a:buNone/>
            </a:pPr>
            <a:endParaRPr lang="el-GR" altLang="el-GR" sz="2000" b="1" dirty="0"/>
          </a:p>
          <a:p>
            <a:pPr lvl="1" eaLnBrk="1" hangingPunct="1">
              <a:buClr>
                <a:srgbClr val="0070C0"/>
              </a:buClr>
              <a:buSzPct val="186000"/>
              <a:buFont typeface="Wingdings" panose="05000000000000000000" pitchFamily="2" charset="2"/>
              <a:buChar char="§"/>
            </a:pPr>
            <a:r>
              <a:rPr lang="en-US" altLang="el-GR" sz="2400" b="1" dirty="0">
                <a:latin typeface="Georgia" panose="02040502050405020303" pitchFamily="18" charset="0"/>
              </a:rPr>
              <a:t>“</a:t>
            </a:r>
            <a:r>
              <a:rPr lang="el-GR" altLang="el-GR" sz="2400" b="1" dirty="0">
                <a:latin typeface="Georgia" panose="02040502050405020303" pitchFamily="18" charset="0"/>
              </a:rPr>
              <a:t>Τεχνητή Νοημοσύνη – Β έκδοση»: Ι. Βλαχάβας, Π. Κεφαλάς, Ν. Βασιλειάδης, Φ. Κόκκορας, Η. Σακελλαρίου</a:t>
            </a:r>
          </a:p>
        </p:txBody>
      </p:sp>
      <p:sp>
        <p:nvSpPr>
          <p:cNvPr id="115716" name="Line 11">
            <a:extLst>
              <a:ext uri="{FF2B5EF4-FFF2-40B4-BE49-F238E27FC236}">
                <a16:creationId xmlns="" xmlns:a16="http://schemas.microsoft.com/office/drawing/2014/main" id="{B5DF46D8-FEDA-4672-BCC0-194627CA98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013" y="728663"/>
            <a:ext cx="8826500" cy="285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  <p:sp>
        <p:nvSpPr>
          <p:cNvPr id="115717" name="Line 11">
            <a:extLst>
              <a:ext uri="{FF2B5EF4-FFF2-40B4-BE49-F238E27FC236}">
                <a16:creationId xmlns="" xmlns:a16="http://schemas.microsoft.com/office/drawing/2014/main" id="{D30AC457-5CD8-4582-9D07-0F6D9C5498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" y="6538913"/>
            <a:ext cx="8410575" cy="15875"/>
          </a:xfrm>
          <a:prstGeom prst="line">
            <a:avLst/>
          </a:prstGeom>
          <a:noFill/>
          <a:ln w="28575">
            <a:solidFill>
              <a:srgbClr val="FF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o MIS design">
  <a:themeElements>
    <a:clrScheme name="Theo MI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heo MI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heo MI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heo MI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heo MI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Theo MIS design</Template>
  <TotalTime>29656</TotalTime>
  <Words>658</Words>
  <Application>Microsoft Office PowerPoint</Application>
  <PresentationFormat>On-screen Show (4:3)</PresentationFormat>
  <Paragraphs>80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Theo MIS design</vt:lpstr>
      <vt:lpstr>CN6005 Τεχνητή Νοημοσύνη</vt:lpstr>
      <vt:lpstr>Εισαγωγή</vt:lpstr>
      <vt:lpstr>Ορισμός προβλήματος</vt:lpstr>
      <vt:lpstr>Τρόπος σκέψης</vt:lpstr>
      <vt:lpstr>Δένδρο παιχνιδιού</vt:lpstr>
      <vt:lpstr>Βάθος ανάπτυξης δένδρου</vt:lpstr>
      <vt:lpstr>Ο αλγόριθμος MiniMax</vt:lpstr>
      <vt:lpstr>Βήματα αλγορίθμου Minimax</vt:lpstr>
      <vt:lpstr>Ο αλγόριθμος MiniMax</vt:lpstr>
      <vt:lpstr>Παράδειγμα αλγορίθμου Minimax</vt:lpstr>
      <vt:lpstr>Ο MiniMax στην Τρίλιζα</vt:lpstr>
      <vt:lpstr>Ο MiniMax στο Σκάκι</vt:lpstr>
      <vt:lpstr>Ο MiniMax στο Σκάκι</vt:lpstr>
      <vt:lpstr>Ο αλγόριθμος AlphaBeta</vt:lpstr>
      <vt:lpstr>Ο αλγόριθμος AlphaBeta</vt:lpstr>
      <vt:lpstr>Ο αλγόριθμος AlphaBeta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Πηγές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thodoris</dc:creator>
  <cp:lastModifiedBy>GT</cp:lastModifiedBy>
  <cp:revision>3140</cp:revision>
  <cp:lastPrinted>2020-11-13T05:21:14Z</cp:lastPrinted>
  <dcterms:created xsi:type="dcterms:W3CDTF">1601-01-01T00:00:00Z</dcterms:created>
  <dcterms:modified xsi:type="dcterms:W3CDTF">2025-11-20T16:29:18Z</dcterms:modified>
</cp:coreProperties>
</file>